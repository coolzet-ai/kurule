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6600848-7447-c233-4d00-b3076af1374a}">
          <p14:sldIdLst>
            <p14:sldId id="256"/>
            <p14:sldId id="257"/>
          </p14:sldIdLst>
        </p14:section>
        <p14:section name="Ⅰ. 국가계약법" id="{2ac9504f-a83e-59e4-b5f6-bae3366029f7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Ⅱ. 연구개발비" id="{b483f4da-b9d1-7cad-ebef-19b7b87d8128}">
          <p14:sldIdLst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Ⅲ. 앵커사업단 적용" id="{27ad3a82-15e1-21d4-7f1c-3a4b468ac6e6}">
          <p14:sldIdLst>
            <p14:sldId id="273"/>
            <p14:sldId id="274"/>
            <p14:sldId id="275"/>
            <p14:sldId id="276"/>
          </p14:sldIdLst>
        </p14:section>
        <p14:section name="Ⅳ. 앵커·서울 규정" id="{e0986839-558f-9bce-52f2-6147c277d1b0}">
          <p14:sldIdLst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Ⅴ. 건국대 구매·산단" id="{14b7c36a-7328-4055-0af6-533c83818807}">
          <p14:sldIdLst>
            <p14:sldId id="283"/>
            <p14:sldId id="284"/>
            <p14:sldId id="285"/>
            <p14:sldId id="286"/>
            <p14:sldId id="287"/>
          </p14:sldIdLst>
        </p14:section>
        <p14:section name="마무리" id="{808a3603-1e5f-0ad4-f573-b5d032161ba7}">
          <p14:sldIdLst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A3F29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A3F29"/>
                </a:solidFill>
                <a:latin typeface="+mn-lt"/>
              </a:rPr>
              <a:t>간접비 배분 기준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3차(종전)</c:v>
                </c:pt>
              </c:strCache>
            </c:strRef>
          </c:tx>
          <c:spPr>
            <a:solidFill>
              <a:srgbClr val="D5E2D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A2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산학협력단</c:v>
                  </c:pt>
                  <c:pt idx="1">
                    <c:v>능률성과급</c:v>
                  </c:pt>
                  <c:pt idx="2">
                    <c:v>지정연구소 지원금</c:v>
                  </c:pt>
                  <c:pt idx="3">
                    <c:v>연구지원비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10</c:v>
                </c:pt>
                <c:pt idx="2">
                  <c:v>15</c:v>
                </c:pt>
                <c:pt idx="3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4차(2026.9.9.)</c:v>
                </c:pt>
              </c:strCache>
            </c:strRef>
          </c:tx>
          <c:spPr>
            <a:solidFill>
              <a:srgbClr val="0F5B3B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A2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산학협력단</c:v>
                  </c:pt>
                  <c:pt idx="1">
                    <c:v>능률성과급</c:v>
                  </c:pt>
                  <c:pt idx="2">
                    <c:v>지정연구소 지원금</c:v>
                  </c:pt>
                  <c:pt idx="3">
                    <c:v>연구지원비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65</c:v>
                </c:pt>
                <c:pt idx="1">
                  <c:v>10</c:v>
                </c:pt>
                <c:pt idx="2">
                  <c:v>20</c:v>
                </c:pt>
                <c:pt idx="3">
                  <c:v>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C2A2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6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C2A2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교육은 교육연수 3차 자료집의 3강·4강을 앵커사업단 업무 기준으로 재구성한 것입니다. 쪽수는 자료집 하단 인쇄 쪽수입니다.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총 120분 기준. 도입 10분, 국가계약법 40분, 연구개발비 45분, 적용·질의응답 15분. 실무교원 대상 단축과정은 Ⅱ장 중심으로 30분.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유권해석은 법원 판결처럼 국민을 법적으로 구속하지는 않지만, 다르게 집행하면 부적정 집행으로 감사·징계 대상이 됩니다. 계약법규 해석은 2003년부터 조달청이 위임받아 수행합니다.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물품·용역은 2천만원 이하면 1인 견적 수의가 가능하지만, 건국대 요강은 직접구매 물품 500만원·용역 1,000만원 미만 복수견적, 2,000만원 이상 경쟁입찰이라 학내 기준이 더 엄격합니다.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견적서 제출자는 입찰참가자가 아니므로 부정당 제재는 할 수 없습니다. 대신 해당 기관과 3개월간 수의계약이 불가합니다.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검수조서에 계약유형, 적용 요율, 지연일수 기재란을 두면 오적용을 막을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20개 사례 전체는 교육자료 웹페이지(anchor-training-materials.html)에서 질의-회신-시사점 형태로 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기관명은 자료집에서도 가려져 있습니다. 4번(제재 중 업체), 6번(증권 미확보), 8번(부가세)은 앵커 프로그램 운영 용역에서 바로 생길 수 있는 유형입니다.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강사가 강조한 체크포인트를 단계별로 묶은 것입니다. 품의서 첨부 체크리스트로 바로 쓸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산학연공동 과제는 간접비를 편성하지 않고, 연구수당은 성과급과 중복 지급할 수 없습니다(매뉴얼).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내부거래: 산학협력단과 대학 간 거래, 같은 과제 수행기관 간 거래는 계상 불가. 공동활용 장비 이용료는 2026.1.1.부터 ZEUS 등록 장비만 예외입니다.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학생인건비 기준단가는 월 학사 130만원, 석사 220만원, 박사 300만원 이상입니다. 인건비 계상률은 100%를 넘을 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모두 2026년 시행입니다. 연구혁신비는 건별 재료비 300만원, 활동비 50만원 초과 사용 불가, 인건비성·국외·정액 지급 불가입니다.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정산 체계는 한국연구재단 지원과제 기준입니다. 공동정산은 통합이지바로에서 15개 이지체크 항목을 자동 검증합니다.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이지체크 15개 전체 목록과 상시점검 20개 항목은 교육자료 웹페이지 정산절차 탭에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핵심은 앵커 사업비 일반 항목과 산학연공동 과제를 구분하는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앵커 간접비는 지침상 3% 이내이므로 산단 일반 배분율이 자동 적용되지 않도록 사업단 지침에 "앵커 지침 우선" 단서를 두자는 것이 개정 제안 B항입니다.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검수 간소화와 연구혁신비는 개정 제안 페이지 추가검토 11·12번 항목입니다.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교육부 지침 4차 개정은 글로컬대학 인건비 예외 단서 1개만 추가되었고, 건국대 일반 앵커 기준은 변동 없습니다. 산단 내규의 간이영수증 특례는 앵커 지침 인정 증빙에 없으므로 쓰지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성과급은 평가결과에 따라 차등 지급해야 하며 균등 배분은 집행 제한 항목입니다. 인센티브 집행 체크리스트를 작성해 5년 보존합니다.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항목의 "주요 집행 제한 항목"에서 실무상 빈도가 높은 것을 골랐습니다. 산학연 공동 R&amp;BD는 연구개발비 사용기준을 준용합니다(Ⅱ장).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[첨부5]는 서울연구원 예산집행지침을 일부 준용한 것으로, 대학 자체 지급 규정이 없을 때 적용합니다. 오른쪽 5개는 자체 규정이 있어도 지켜야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단위과제 간 예산을 바꿔도 사업계획서상 성과지표는 달성해야 하며, 미달 시 서울앵커위원회가 차년도 참여 제한·삭감 등을 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산학협력단 회계(내규 제67조): 연구재료·활동비·간접비 구입 500만원 이상 중앙구매 비교견적, 2,000만원 이상 입찰. 개별구매 시 본견적 1부와 비교견적 2부를 갖춥니다.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중앙검수 대상이 아니면 연구책임자가 자체 검수합니다. 연구책임자 직접구매라도 계약서가 필요하면 계약자는 산학협력단장입니다.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내규 제12조 제1호에 따라 앵커 지침에 정함이 있으면 그것이 우선합니다. 간이영수증 특례처럼 앵커와 맞지 않는 조항은 쓰지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규정 위계상 앵커 지침·서울 기준이 우선하고, 학내 규정은 그 범위 안의 세부 기준입니다. 서로 다른 경우는 더 엄격한 쪽을 따르는 것이 안전합니다.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질의응답 후 웹페이지의 자가진단 퀴즈 10문항으로 마무리합니다.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U_TITLE">
    <p:bg>
      <p:bgPr>
        <a:solidFill>
          <a:srgbClr val="0F5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D7EBDF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U_SECTION">
    <p:bg>
      <p:bgPr>
        <a:solidFill>
          <a:srgbClr val="0A3F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BFDCCB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U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건국대학교 앵커사업단 · 실무자·실무교원 교육 | 자료: 지역앵커센터 담당자 교육연수(3차) 자료집, 2026.10.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국가계약법 유권해석·감사사례와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연구개발비 사용기준·정산절차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8404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7EBDF"/>
                </a:solidFill>
              </a:rPr>
              <a:t>앵커사업단 실무자·실무교원 교육  |  2026. 10.</a:t>
            </a:r>
            <a:endParaRPr lang="en-US" sz="1800" dirty="0"/>
          </a:p>
        </p:txBody>
      </p:sp>
      <p:sp>
        <p:nvSpPr>
          <p:cNvPr id="4" name="txt1"/>
          <p:cNvSpPr txBox="1"/>
          <p:nvPr/>
        </p:nvSpPr>
        <p:spPr>
          <a:xfrm>
            <a:off x="73152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건국대학교 앵커사업단</a:t>
            </a:r>
            <a:endParaRPr lang="en-US" sz="1600" dirty="0"/>
          </a:p>
        </p:txBody>
      </p:sp>
      <p:sp>
        <p:nvSpPr>
          <p:cNvPr id="5" name="txt2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DCCB"/>
                </a:solidFill>
              </a:rPr>
              <a:t>자료: 지역앵커센터 담당자 교육연수(3차) 자료집 — 제3강 공공조달역량개발원 김우환 교수, 제4강 한국연구재단 조우현 팀장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오늘 다룰 세 가지</a:t>
            </a:r>
            <a:endParaRPr lang="en-US" sz="2800" dirty="0"/>
          </a:p>
        </p:txBody>
      </p:sp>
      <p:sp>
        <p:nvSpPr>
          <p:cNvPr id="3" name="card3"/>
          <p:cNvSpPr/>
          <p:nvPr/>
        </p:nvSpPr>
        <p:spPr>
          <a:xfrm>
            <a:off x="548640" y="1417320"/>
            <a:ext cx="3520440" cy="42062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4" name="iconCircle4"/>
          <p:cNvSpPr/>
          <p:nvPr/>
        </p:nvSpPr>
        <p:spPr>
          <a:xfrm>
            <a:off x="86868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901952"/>
            <a:ext cx="356616" cy="356616"/>
          </a:xfrm>
          <a:prstGeom prst="rect">
            <a:avLst/>
          </a:prstGeom>
        </p:spPr>
      </p:pic>
      <p:sp>
        <p:nvSpPr>
          <p:cNvPr id="6" name="txt5"/>
          <p:cNvSpPr txBox="1"/>
          <p:nvPr/>
        </p:nvSpPr>
        <p:spPr>
          <a:xfrm>
            <a:off x="2926080" y="187452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40분</a:t>
            </a:r>
            <a:endParaRPr lang="en-US" sz="1600" dirty="0"/>
          </a:p>
        </p:txBody>
      </p:sp>
      <p:sp>
        <p:nvSpPr>
          <p:cNvPr id="7" name="txt6"/>
          <p:cNvSpPr txBox="1"/>
          <p:nvPr/>
        </p:nvSpPr>
        <p:spPr>
          <a:xfrm>
            <a:off x="86868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국가계약법</a:t>
            </a:r>
            <a:endParaRPr lang="en-US" sz="2000" dirty="0"/>
          </a:p>
        </p:txBody>
      </p:sp>
      <p:sp>
        <p:nvSpPr>
          <p:cNvPr id="8" name="txt7"/>
          <p:cNvSpPr txBox="1"/>
          <p:nvPr/>
        </p:nvSpPr>
        <p:spPr>
          <a:xfrm>
            <a:off x="868680" y="320040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유권해석은 법적 구속력은 없지만 사실상 구속력이 있습니다. 공고·견적·낙찰·계약관리 단계의 실제 회신과 감사 지적을 익힙니다.</a:t>
            </a:r>
            <a:endParaRPr lang="en-US" sz="1600" dirty="0"/>
          </a:p>
        </p:txBody>
      </p:sp>
      <p:sp>
        <p:nvSpPr>
          <p:cNvPr id="9" name="card8"/>
          <p:cNvSpPr/>
          <p:nvPr/>
        </p:nvSpPr>
        <p:spPr>
          <a:xfrm>
            <a:off x="4297680" y="1417320"/>
            <a:ext cx="3520440" cy="42062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0" name="iconCircle9"/>
          <p:cNvSpPr/>
          <p:nvPr/>
        </p:nvSpPr>
        <p:spPr>
          <a:xfrm>
            <a:off x="461772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1901952"/>
            <a:ext cx="356616" cy="356616"/>
          </a:xfrm>
          <a:prstGeom prst="rect">
            <a:avLst/>
          </a:prstGeom>
        </p:spPr>
      </p:pic>
      <p:sp>
        <p:nvSpPr>
          <p:cNvPr id="12" name="txt10"/>
          <p:cNvSpPr txBox="1"/>
          <p:nvPr/>
        </p:nvSpPr>
        <p:spPr>
          <a:xfrm>
            <a:off x="6675120" y="187452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45분</a:t>
            </a:r>
            <a:endParaRPr lang="en-US" sz="1600" dirty="0"/>
          </a:p>
        </p:txBody>
      </p:sp>
      <p:sp>
        <p:nvSpPr>
          <p:cNvPr id="13" name="txt11"/>
          <p:cNvSpPr txBox="1"/>
          <p:nvPr/>
        </p:nvSpPr>
        <p:spPr>
          <a:xfrm>
            <a:off x="461772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연구개발비 사용기준</a:t>
            </a:r>
            <a:endParaRPr lang="en-US" sz="2000" dirty="0"/>
          </a:p>
        </p:txBody>
      </p:sp>
      <p:sp>
        <p:nvSpPr>
          <p:cNvPr id="14" name="txt12"/>
          <p:cNvSpPr txBox="1"/>
          <p:nvPr/>
        </p:nvSpPr>
        <p:spPr>
          <a:xfrm>
            <a:off x="4617720" y="320040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산학연공동 기술개발과제는 「국가연구개발사업 연구개발비 사용기준」을 준용합니다. 2026년 개정사항을 정리합니다.</a:t>
            </a:r>
            <a:endParaRPr lang="en-US" sz="1600" dirty="0"/>
          </a:p>
        </p:txBody>
      </p:sp>
      <p:sp>
        <p:nvSpPr>
          <p:cNvPr id="15" name="card13"/>
          <p:cNvSpPr/>
          <p:nvPr/>
        </p:nvSpPr>
        <p:spPr>
          <a:xfrm>
            <a:off x="8046720" y="1417320"/>
            <a:ext cx="3520440" cy="42062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6" name="iconCircle14"/>
          <p:cNvSpPr/>
          <p:nvPr/>
        </p:nvSpPr>
        <p:spPr>
          <a:xfrm>
            <a:off x="836676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1901952"/>
            <a:ext cx="356616" cy="356616"/>
          </a:xfrm>
          <a:prstGeom prst="rect">
            <a:avLst/>
          </a:prstGeom>
        </p:spPr>
      </p:pic>
      <p:sp>
        <p:nvSpPr>
          <p:cNvPr id="18" name="txt15"/>
          <p:cNvSpPr txBox="1"/>
          <p:nvPr/>
        </p:nvSpPr>
        <p:spPr>
          <a:xfrm>
            <a:off x="10424160" y="187452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15분</a:t>
            </a:r>
            <a:endParaRPr lang="en-US" sz="1600" dirty="0"/>
          </a:p>
        </p:txBody>
      </p:sp>
      <p:sp>
        <p:nvSpPr>
          <p:cNvPr id="19" name="txt16"/>
          <p:cNvSpPr txBox="1"/>
          <p:nvPr/>
        </p:nvSpPr>
        <p:spPr>
          <a:xfrm>
            <a:off x="836676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앵커사업단 적용</a:t>
            </a:r>
            <a:endParaRPr lang="en-US" sz="2000" dirty="0"/>
          </a:p>
        </p:txBody>
      </p:sp>
      <p:sp>
        <p:nvSpPr>
          <p:cNvPr id="20" name="txt17"/>
          <p:cNvSpPr txBox="1"/>
          <p:nvPr/>
        </p:nvSpPr>
        <p:spPr>
          <a:xfrm>
            <a:off x="8366760" y="320040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어떤 집행에 어떤 규정을 먼저 적용하는지, 건국대 규정과 다른 지점, 산단 내규 4차 개정을 확인합니다.</a:t>
            </a:r>
            <a:endParaRPr lang="en-US" sz="1600" dirty="0"/>
          </a:p>
        </p:txBody>
      </p:sp>
      <p:sp>
        <p:nvSpPr>
          <p:cNvPr id="21" name="txt18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+ 실무자 심화 40분: Ⅳ. 앵커 지침(4차)·서울 기준(3차) 핵심 → Ⅴ. 건국대 구매요강·산단 내규 실무   |   실무교원 30분 과정: Ⅱ장 중심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Ⅰ. 국가계약법 유권해석 및 감사사례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BFDCCB"/>
                </a:solidFill>
              </a:rPr>
              <a:t>공공조달역량개발원 김우환 교수 · 2026.10.2. · 자료집 p.97~136</a:t>
            </a:r>
            <a:endParaRPr lang="en-US" sz="1600" dirty="0"/>
          </a:p>
        </p:txBody>
      </p:sp>
      <p:sp>
        <p:nvSpPr>
          <p:cNvPr id="4" name="iconCircle19"/>
          <p:cNvSpPr/>
          <p:nvPr/>
        </p:nvSpPr>
        <p:spPr>
          <a:xfrm>
            <a:off x="731520" y="14630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1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682496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유권해석은 "사실상의 구속력"을 가진다</a:t>
            </a:r>
            <a:endParaRPr lang="en-US" sz="2800" dirty="0"/>
          </a:p>
        </p:txBody>
      </p:sp>
      <p:sp>
        <p:nvSpPr>
          <p:cNvPr id="3" name="card20"/>
          <p:cNvSpPr/>
          <p:nvPr/>
        </p:nvSpPr>
        <p:spPr>
          <a:xfrm>
            <a:off x="548640" y="1371600"/>
            <a:ext cx="3520440" cy="393192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4" name="iconCircle21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2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777594"/>
            <a:ext cx="285293" cy="285293"/>
          </a:xfrm>
          <a:prstGeom prst="rect">
            <a:avLst/>
          </a:prstGeom>
        </p:spPr>
      </p:pic>
      <p:sp>
        <p:nvSpPr>
          <p:cNvPr id="6" name="txt22"/>
          <p:cNvSpPr txBox="1"/>
          <p:nvPr/>
        </p:nvSpPr>
        <p:spPr>
          <a:xfrm>
            <a:off x="150876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개념</a:t>
            </a:r>
            <a:endParaRPr lang="en-US" sz="2000" dirty="0"/>
          </a:p>
        </p:txBody>
      </p:sp>
      <p:sp>
        <p:nvSpPr>
          <p:cNvPr id="7" name="txt23"/>
          <p:cNvSpPr txBox="1"/>
          <p:nvPr/>
        </p:nvSpPr>
        <p:spPr>
          <a:xfrm>
            <a:off x="822960" y="242316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행정기관이 법령 집행 중 생긴 해석상 의문에 대한 법령해석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근거: 행정기본법 제40조, 법제업무운영규정 제26조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사실인정·정책판단·처분의 위법 여부는 대상 아님</a:t>
            </a:r>
            <a:endParaRPr lang="en-US" sz="1400" dirty="0"/>
          </a:p>
        </p:txBody>
      </p:sp>
      <p:sp>
        <p:nvSpPr>
          <p:cNvPr id="8" name="txt24"/>
          <p:cNvSpPr txBox="1"/>
          <p:nvPr/>
        </p:nvSpPr>
        <p:spPr>
          <a:xfrm>
            <a:off x="822960" y="4937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p.101</a:t>
            </a:r>
            <a:endParaRPr lang="en-US" sz="1000" dirty="0"/>
          </a:p>
        </p:txBody>
      </p:sp>
      <p:sp>
        <p:nvSpPr>
          <p:cNvPr id="9" name="card25"/>
          <p:cNvSpPr/>
          <p:nvPr/>
        </p:nvSpPr>
        <p:spPr>
          <a:xfrm>
            <a:off x="4297680" y="1371600"/>
            <a:ext cx="3520440" cy="393192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0" name="iconCircle26"/>
          <p:cNvSpPr/>
          <p:nvPr/>
        </p:nvSpPr>
        <p:spPr>
          <a:xfrm>
            <a:off x="457200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2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674" y="1777594"/>
            <a:ext cx="285293" cy="285293"/>
          </a:xfrm>
          <a:prstGeom prst="rect">
            <a:avLst/>
          </a:prstGeom>
        </p:spPr>
      </p:pic>
      <p:sp>
        <p:nvSpPr>
          <p:cNvPr id="12" name="txt27"/>
          <p:cNvSpPr txBox="1"/>
          <p:nvPr/>
        </p:nvSpPr>
        <p:spPr>
          <a:xfrm>
            <a:off x="525780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기속력</a:t>
            </a:r>
            <a:endParaRPr lang="en-US" sz="2000" dirty="0"/>
          </a:p>
        </p:txBody>
      </p:sp>
      <p:sp>
        <p:nvSpPr>
          <p:cNvPr id="13" name="txt28"/>
          <p:cNvSpPr txBox="1"/>
          <p:nvPr/>
        </p:nvSpPr>
        <p:spPr>
          <a:xfrm>
            <a:off x="4572000" y="242316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법적 구속력 ✕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 — 법원 판결과 다름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4"/>
                </a:solidFill>
              </a:rPr>
              <a:t>사실상 구속력 ○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 — 다르게 집행하면 감사·징계 대상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사법해석과 다르면 효력 제한</a:t>
            </a:r>
            <a:endParaRPr lang="en-US" sz="1400" dirty="0"/>
          </a:p>
        </p:txBody>
      </p:sp>
      <p:sp>
        <p:nvSpPr>
          <p:cNvPr id="14" name="txt29"/>
          <p:cNvSpPr txBox="1"/>
          <p:nvPr/>
        </p:nvSpPr>
        <p:spPr>
          <a:xfrm>
            <a:off x="4572000" y="4937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p.102</a:t>
            </a:r>
            <a:endParaRPr lang="en-US" sz="1000" dirty="0"/>
          </a:p>
        </p:txBody>
      </p:sp>
      <p:sp>
        <p:nvSpPr>
          <p:cNvPr id="15" name="card30"/>
          <p:cNvSpPr/>
          <p:nvPr/>
        </p:nvSpPr>
        <p:spPr>
          <a:xfrm>
            <a:off x="8046720" y="1371600"/>
            <a:ext cx="3520440" cy="393192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6" name="iconCircle31"/>
          <p:cNvSpPr/>
          <p:nvPr/>
        </p:nvSpPr>
        <p:spPr>
          <a:xfrm>
            <a:off x="832104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3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714" y="1777594"/>
            <a:ext cx="285293" cy="285293"/>
          </a:xfrm>
          <a:prstGeom prst="rect">
            <a:avLst/>
          </a:prstGeom>
        </p:spPr>
      </p:pic>
      <p:sp>
        <p:nvSpPr>
          <p:cNvPr id="18" name="txt32"/>
          <p:cNvSpPr txBox="1"/>
          <p:nvPr/>
        </p:nvSpPr>
        <p:spPr>
          <a:xfrm>
            <a:off x="900684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관장기관</a:t>
            </a:r>
            <a:endParaRPr lang="en-US" sz="2000" dirty="0"/>
          </a:p>
        </p:txBody>
      </p:sp>
      <p:sp>
        <p:nvSpPr>
          <p:cNvPr id="19" name="txt33"/>
          <p:cNvSpPr txBox="1"/>
          <p:nvPr/>
        </p:nvSpPr>
        <p:spPr>
          <a:xfrm>
            <a:off x="8321040" y="242316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1차: 소관 중앙행정기관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최종: 법제처 (벌칙·소송 등은 법무부)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국가계약법령·계약예규: 조달청 (2003.5.12.~ 위임)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지방계약법령: 행정안전부</a:t>
            </a:r>
            <a:endParaRPr lang="en-US" sz="1400" dirty="0"/>
          </a:p>
        </p:txBody>
      </p:sp>
      <p:sp>
        <p:nvSpPr>
          <p:cNvPr id="20" name="txt34"/>
          <p:cNvSpPr txBox="1"/>
          <p:nvPr/>
        </p:nvSpPr>
        <p:spPr>
          <a:xfrm>
            <a:off x="8321040" y="4937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p.102~103</a:t>
            </a:r>
            <a:endParaRPr lang="en-US" sz="1000" dirty="0"/>
          </a:p>
        </p:txBody>
      </p:sp>
      <p:sp>
        <p:nvSpPr>
          <p:cNvPr id="21" name="card35"/>
          <p:cNvSpPr/>
          <p:nvPr/>
        </p:nvSpPr>
        <p:spPr>
          <a:xfrm>
            <a:off x="548640" y="5486400"/>
            <a:ext cx="11064240" cy="54864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22" name="txt36"/>
          <p:cNvSpPr txBox="1"/>
          <p:nvPr/>
        </p:nvSpPr>
        <p:spPr>
          <a:xfrm>
            <a:off x="777240" y="54864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실무 팁 — 애매하면 조달청 질의 후 회신문을 품의에 첨부해 근거로 남기세요 (조달청 › 종합민원센터 › 질의사례 › 계약법규)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소액수의계약 금액기준 — 물품·용역 2천만원이 분기점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25603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대상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추정가격 기준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B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모든 물품·용역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2천만원 이하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소기업·소상공인, 학술연구·원가계산 등 특수지식, 여성·장애인·사회적기업 등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2천만원 초과 ~ 1억원 이하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임대차(물품·용역·공사 아닌 계약), 청년창업기업(물품·용역)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5천만원 이하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공사 — 종합 / 전문 / 전기 등 기타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4억 / 2억 / 1억 6천만원 이하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xt37"/>
          <p:cNvSpPr txBox="1"/>
          <p:nvPr/>
        </p:nvSpPr>
        <p:spPr>
          <a:xfrm>
            <a:off x="548640" y="43434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시행령 제26조①5호가목 · p.125</a:t>
            </a:r>
            <a:endParaRPr lang="en-US" sz="1000" dirty="0"/>
          </a:p>
        </p:txBody>
      </p:sp>
      <p:sp>
        <p:nvSpPr>
          <p:cNvPr id="5" name="card38"/>
          <p:cNvSpPr/>
          <p:nvPr/>
        </p:nvSpPr>
        <p:spPr>
          <a:xfrm>
            <a:off x="7863840" y="1371600"/>
            <a:ext cx="3749040" cy="4480560"/>
          </a:xfrm>
          <a:prstGeom prst="roundRect">
            <a:avLst>
              <a:gd name="adj" fmla="val 2927"/>
            </a:avLst>
          </a:prstGeom>
          <a:solidFill>
            <a:schemeClr val="accent4"/>
          </a:solidFill>
          <a:ln/>
        </p:spPr>
      </p:sp>
      <p:sp>
        <p:nvSpPr>
          <p:cNvPr id="6" name="iconCircle39"/>
          <p:cNvSpPr/>
          <p:nvPr/>
        </p:nvSpPr>
        <p:spPr>
          <a:xfrm>
            <a:off x="8138160" y="164592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7" name="icon3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9834" y="1777594"/>
            <a:ext cx="285293" cy="285293"/>
          </a:xfrm>
          <a:prstGeom prst="rect">
            <a:avLst/>
          </a:prstGeom>
        </p:spPr>
      </p:pic>
      <p:pic>
        <p:nvPicPr>
          <p:cNvPr id="8" name="warnIcon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9834" y="1777594"/>
            <a:ext cx="285293" cy="285293"/>
          </a:xfrm>
          <a:prstGeom prst="rect">
            <a:avLst/>
          </a:prstGeom>
        </p:spPr>
      </p:pic>
      <p:sp>
        <p:nvSpPr>
          <p:cNvPr id="9" name="txt40"/>
          <p:cNvSpPr txBox="1"/>
          <p:nvPr/>
        </p:nvSpPr>
        <p:spPr>
          <a:xfrm>
            <a:off x="8138160" y="23774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2천만원 초과는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전자 2인 이상 견적</a:t>
            </a:r>
            <a:endParaRPr lang="en-US" sz="2000" dirty="0"/>
          </a:p>
        </p:txBody>
      </p:sp>
      <p:sp>
        <p:nvSpPr>
          <p:cNvPr id="10" name="txt41"/>
          <p:cNvSpPr txBox="1"/>
          <p:nvPr/>
        </p:nvSpPr>
        <p:spPr>
          <a:xfrm>
            <a:off x="8138160" y="3383280"/>
            <a:ext cx="3246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시행령 제30조: 2인 이상 견적 원칙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2천만원(여성·장애인·사회적기업 등 5천만원) 초과는 전자조달시스템으로 견적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예정가격 작성 대상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건국대 구매계약업무요강이 더 엄격하면 학내 기준 적용</a:t>
            </a:r>
            <a:endParaRPr lang="en-US" sz="1300" dirty="0"/>
          </a:p>
        </p:txBody>
      </p:sp>
      <p:sp>
        <p:nvSpPr>
          <p:cNvPr id="11" name="card42"/>
          <p:cNvSpPr/>
          <p:nvPr/>
        </p:nvSpPr>
        <p:spPr>
          <a:xfrm>
            <a:off x="548640" y="4800600"/>
            <a:ext cx="69494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2" name="txt43"/>
          <p:cNvSpPr txBox="1"/>
          <p:nvPr/>
        </p:nvSpPr>
        <p:spPr>
          <a:xfrm>
            <a:off x="777240" y="489204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예정가격 결정 순서 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거래실례가격 → 원가계산가격 → (공사)표준시장단가 → 감정·유사거래·견적가격. 거래실례가격은 2 이상 사업자에게 직접 조사한 가격이며, 부가세 등 세금 포함 (p.107~108)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2인 이상 견적 수의계약 vs 입찰 — 미체결 시 결과가 다르다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937760"/>
                <a:gridCol w="402336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구분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2인 이상 견적 수의계약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입찰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B3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적용 대상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1억원 이하 (물품·용역)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금액기준 없음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공고명 / 기간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'수의견적 제출 안내' / 3일(공휴일 제외)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입찰공고 / 7일(긴급 5일) 이상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보증금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입찰보증금 없음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입찰보증금 납부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상대자 결정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낙찰하한율 88% (단순노무용역 90%)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적격심사·최저가 등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미체결 시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제재 대상 아님 — 단, 3개월간 해당 기관 수의계약 불가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부정당제재 + 입찰보증금 귀속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ard44"/>
          <p:cNvSpPr/>
          <p:nvPr/>
        </p:nvSpPr>
        <p:spPr>
          <a:xfrm>
            <a:off x="548640" y="5349240"/>
            <a:ext cx="1106424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5" name="iconCircle45"/>
          <p:cNvSpPr/>
          <p:nvPr/>
        </p:nvSpPr>
        <p:spPr>
          <a:xfrm>
            <a:off x="731520" y="542239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4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5554066"/>
            <a:ext cx="285293" cy="285293"/>
          </a:xfrm>
          <a:prstGeom prst="rect">
            <a:avLst/>
          </a:prstGeom>
        </p:spPr>
      </p:pic>
      <p:sp>
        <p:nvSpPr>
          <p:cNvPr id="7" name="txt46"/>
          <p:cNvSpPr txBox="1"/>
          <p:nvPr/>
        </p:nvSpPr>
        <p:spPr>
          <a:xfrm>
            <a:off x="1463040" y="53492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견적 포기 업체 이력을 관리해 3개월 안에는 수의계약 상대에서 빼세요 (국가 2018.12.31.부터 적용 · p.126)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계약관리 숫자 — 지체상금률과 선금</a:t>
            </a:r>
            <a:endParaRPr lang="en-US" sz="2800" dirty="0"/>
          </a:p>
        </p:txBody>
      </p:sp>
      <p:sp>
        <p:nvSpPr>
          <p:cNvPr id="3" name="card47"/>
          <p:cNvSpPr/>
          <p:nvPr/>
        </p:nvSpPr>
        <p:spPr>
          <a:xfrm>
            <a:off x="548640" y="1371600"/>
            <a:ext cx="2331720" cy="265176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4" name="txt48"/>
          <p:cNvSpPr txBox="1"/>
          <p:nvPr/>
        </p:nvSpPr>
        <p:spPr>
          <a:xfrm>
            <a:off x="777240" y="16002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0.75</a:t>
            </a:r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/1000</a:t>
            </a:r>
            <a:endParaRPr lang="en-US" sz="1400" dirty="0"/>
          </a:p>
        </p:txBody>
      </p:sp>
      <p:sp>
        <p:nvSpPr>
          <p:cNvPr id="5" name="txt49"/>
          <p:cNvSpPr txBox="1"/>
          <p:nvPr/>
        </p:nvSpPr>
        <p:spPr>
          <a:xfrm>
            <a:off x="77724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물품 제조·구매</a:t>
            </a:r>
            <a:endParaRPr lang="en-US" sz="1400" dirty="0"/>
          </a:p>
        </p:txBody>
      </p:sp>
      <p:sp>
        <p:nvSpPr>
          <p:cNvPr id="6" name="txt50"/>
          <p:cNvSpPr txBox="1"/>
          <p:nvPr/>
        </p:nvSpPr>
        <p:spPr>
          <a:xfrm>
            <a:off x="777240" y="3246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SW 물품·용역 일괄입찰 포함</a:t>
            </a:r>
            <a:endParaRPr lang="en-US" sz="1200" dirty="0"/>
          </a:p>
        </p:txBody>
      </p:sp>
      <p:sp>
        <p:nvSpPr>
          <p:cNvPr id="7" name="card51"/>
          <p:cNvSpPr/>
          <p:nvPr/>
        </p:nvSpPr>
        <p:spPr>
          <a:xfrm>
            <a:off x="3063240" y="1371600"/>
            <a:ext cx="2331720" cy="265176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8" name="txt52"/>
          <p:cNvSpPr txBox="1"/>
          <p:nvPr/>
        </p:nvSpPr>
        <p:spPr>
          <a:xfrm>
            <a:off x="3291840" y="16002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1.25</a:t>
            </a:r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/1000</a:t>
            </a:r>
            <a:endParaRPr lang="en-US" sz="1400" dirty="0"/>
          </a:p>
        </p:txBody>
      </p:sp>
      <p:sp>
        <p:nvSpPr>
          <p:cNvPr id="9" name="txt53"/>
          <p:cNvSpPr txBox="1"/>
          <p:nvPr/>
        </p:nvSpPr>
        <p:spPr>
          <a:xfrm>
            <a:off x="329184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물품 수리·가공·대여, 용역</a:t>
            </a:r>
            <a:endParaRPr lang="en-US" sz="1400" dirty="0"/>
          </a:p>
        </p:txBody>
      </p:sp>
      <p:sp>
        <p:nvSpPr>
          <p:cNvPr id="10" name="txt54"/>
          <p:cNvSpPr txBox="1"/>
          <p:nvPr/>
        </p:nvSpPr>
        <p:spPr>
          <a:xfrm>
            <a:off x="3291840" y="3246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SW 일괄입찰은 제외</a:t>
            </a:r>
            <a:endParaRPr lang="en-US" sz="1200" dirty="0"/>
          </a:p>
        </p:txBody>
      </p:sp>
      <p:sp>
        <p:nvSpPr>
          <p:cNvPr id="11" name="card55"/>
          <p:cNvSpPr/>
          <p:nvPr/>
        </p:nvSpPr>
        <p:spPr>
          <a:xfrm>
            <a:off x="5577840" y="1371600"/>
            <a:ext cx="2331720" cy="265176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2" name="txt56"/>
          <p:cNvSpPr txBox="1"/>
          <p:nvPr/>
        </p:nvSpPr>
        <p:spPr>
          <a:xfrm>
            <a:off x="5806440" y="160020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30</a:t>
            </a:r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%</a:t>
            </a:r>
            <a:endParaRPr lang="en-US" sz="1400" dirty="0"/>
          </a:p>
        </p:txBody>
      </p:sp>
      <p:sp>
        <p:nvSpPr>
          <p:cNvPr id="13" name="txt57"/>
          <p:cNvSpPr txBox="1"/>
          <p:nvPr/>
        </p:nvSpPr>
        <p:spPr>
          <a:xfrm>
            <a:off x="5806440" y="25603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지체상금 상한</a:t>
            </a:r>
            <a:endParaRPr lang="en-US" sz="1400" dirty="0"/>
          </a:p>
        </p:txBody>
      </p:sp>
      <p:sp>
        <p:nvSpPr>
          <p:cNvPr id="14" name="txt58"/>
          <p:cNvSpPr txBox="1"/>
          <p:nvPr/>
        </p:nvSpPr>
        <p:spPr>
          <a:xfrm>
            <a:off x="5806440" y="32461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계약금액(기성 공제) 기준</a:t>
            </a:r>
            <a:endParaRPr lang="en-US" sz="1200" dirty="0"/>
          </a:p>
        </p:txBody>
      </p:sp>
      <p:sp>
        <p:nvSpPr>
          <p:cNvPr id="15" name="txt59"/>
          <p:cNvSpPr txBox="1"/>
          <p:nvPr/>
        </p:nvSpPr>
        <p:spPr>
          <a:xfrm>
            <a:off x="548640" y="4206240"/>
            <a:ext cx="7360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공사 0.5/1000 · 운송·보관 2.5/1000. 지체상금이 계약보증금 상당액에 이르면 보증금 귀속·해제 — 전체 계약금액 기준 (p.124, 133)</a:t>
            </a:r>
            <a:endParaRPr lang="en-US" sz="1300" dirty="0"/>
          </a:p>
        </p:txBody>
      </p:sp>
      <p:sp>
        <p:nvSpPr>
          <p:cNvPr id="16" name="card60"/>
          <p:cNvSpPr/>
          <p:nvPr/>
        </p:nvSpPr>
        <p:spPr>
          <a:xfrm>
            <a:off x="8183880" y="1371600"/>
            <a:ext cx="3429000" cy="4663440"/>
          </a:xfrm>
          <a:prstGeom prst="roundRect">
            <a:avLst>
              <a:gd name="adj" fmla="val 3200"/>
            </a:avLst>
          </a:prstGeom>
          <a:solidFill>
            <a:schemeClr val="accent1"/>
          </a:solidFill>
          <a:ln/>
        </p:spPr>
      </p:sp>
      <p:sp>
        <p:nvSpPr>
          <p:cNvPr id="17" name="iconCircle61"/>
          <p:cNvSpPr/>
          <p:nvPr/>
        </p:nvSpPr>
        <p:spPr>
          <a:xfrm>
            <a:off x="8458200" y="16459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con6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9874" y="1777594"/>
            <a:ext cx="285293" cy="285293"/>
          </a:xfrm>
          <a:prstGeom prst="rect">
            <a:avLst/>
          </a:prstGeom>
        </p:spPr>
      </p:pic>
      <p:sp>
        <p:nvSpPr>
          <p:cNvPr id="19" name="txt62"/>
          <p:cNvSpPr txBox="1"/>
          <p:nvPr/>
        </p:nvSpPr>
        <p:spPr>
          <a:xfrm>
            <a:off x="8458200" y="2331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선금 의무지급비율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58200" y="2880360"/>
          <a:ext cx="29260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물품·용역 3억 미만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2E7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7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7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7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50%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2E7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7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7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7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3억~10억 미만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2E7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7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7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7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40%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2E7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7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7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7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</a:rPr>
                        <a:t>10억 이상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2E7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7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7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7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30%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2E7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7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7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7A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xt63"/>
          <p:cNvSpPr txBox="1"/>
          <p:nvPr/>
        </p:nvSpPr>
        <p:spPr>
          <a:xfrm>
            <a:off x="8458200" y="42976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7EBDF"/>
                </a:solidFill>
              </a:rPr>
              <a:t>신청 후 14일 내 지급 · 보증기간 계약기간+60일 이상 · 선금전용계좌 · 목적 외 사용 금지 (p.134)</a:t>
            </a:r>
            <a:endParaRPr lang="en-US" sz="1200" dirty="0"/>
          </a:p>
        </p:txBody>
      </p:sp>
      <p:sp>
        <p:nvSpPr>
          <p:cNvPr id="22" name="card64"/>
          <p:cNvSpPr/>
          <p:nvPr/>
        </p:nvSpPr>
        <p:spPr>
          <a:xfrm>
            <a:off x="548640" y="5074920"/>
            <a:ext cx="7360920" cy="96012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/>
        </p:spPr>
      </p:sp>
      <p:sp>
        <p:nvSpPr>
          <p:cNvPr id="23" name="txt65"/>
          <p:cNvSpPr txBox="1"/>
          <p:nvPr/>
        </p:nvSpPr>
        <p:spPr>
          <a:xfrm>
            <a:off x="777240" y="5074920"/>
            <a:ext cx="6949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감사사례: SW 일괄입찰 9건에 용역 요율 1.25/1000을 잘못 적용 → 0.75/1000으로 정정, 직원 교육 (p.133)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유권해석 20선 중 앵커사업단 우선 8선</a:t>
            </a:r>
            <a:endParaRPr lang="en-US" sz="2800" dirty="0"/>
          </a:p>
        </p:txBody>
      </p:sp>
      <p:sp>
        <p:nvSpPr>
          <p:cNvPr id="3" name="card66"/>
          <p:cNvSpPr/>
          <p:nvPr/>
        </p:nvSpPr>
        <p:spPr>
          <a:xfrm>
            <a:off x="548640" y="137160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txt67"/>
          <p:cNvSpPr txBox="1"/>
          <p:nvPr/>
        </p:nvSpPr>
        <p:spPr>
          <a:xfrm>
            <a:off x="777240" y="1554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01</a:t>
            </a:r>
            <a:endParaRPr lang="en-US" sz="2200" dirty="0"/>
          </a:p>
        </p:txBody>
      </p:sp>
      <p:sp>
        <p:nvSpPr>
          <p:cNvPr id="5" name="txt68"/>
          <p:cNvSpPr txBox="1"/>
          <p:nvPr/>
        </p:nvSpPr>
        <p:spPr>
          <a:xfrm>
            <a:off x="2011680" y="16276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p.105</a:t>
            </a:r>
            <a:endParaRPr lang="en-US" sz="1000" dirty="0"/>
          </a:p>
        </p:txBody>
      </p:sp>
      <p:sp>
        <p:nvSpPr>
          <p:cNvPr id="6" name="txt69"/>
          <p:cNvSpPr txBox="1"/>
          <p:nvPr/>
        </p:nvSpPr>
        <p:spPr>
          <a:xfrm>
            <a:off x="77724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예산 확정 전 공고</a:t>
            </a:r>
            <a:endParaRPr lang="en-US" sz="1500" dirty="0"/>
          </a:p>
        </p:txBody>
      </p:sp>
      <p:sp>
        <p:nvSpPr>
          <p:cNvPr id="7" name="txt70"/>
          <p:cNvSpPr txBox="1"/>
          <p:nvPr/>
        </p:nvSpPr>
        <p:spPr>
          <a:xfrm>
            <a:off x="77724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가능. 단 "예산심의 결과에 따라 변경·취소 가능" 명시</a:t>
            </a:r>
            <a:endParaRPr lang="en-US" sz="1400" dirty="0"/>
          </a:p>
        </p:txBody>
      </p:sp>
      <p:sp>
        <p:nvSpPr>
          <p:cNvPr id="8" name="card71"/>
          <p:cNvSpPr/>
          <p:nvPr/>
        </p:nvSpPr>
        <p:spPr>
          <a:xfrm>
            <a:off x="3337560" y="137160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txt72"/>
          <p:cNvSpPr txBox="1"/>
          <p:nvPr/>
        </p:nvSpPr>
        <p:spPr>
          <a:xfrm>
            <a:off x="3566160" y="1554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02</a:t>
            </a:r>
            <a:endParaRPr lang="en-US" sz="2200" dirty="0"/>
          </a:p>
        </p:txBody>
      </p:sp>
      <p:sp>
        <p:nvSpPr>
          <p:cNvPr id="10" name="txt73"/>
          <p:cNvSpPr txBox="1"/>
          <p:nvPr/>
        </p:nvSpPr>
        <p:spPr>
          <a:xfrm>
            <a:off x="4800600" y="16276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p.107</a:t>
            </a:r>
            <a:endParaRPr lang="en-US" sz="1000" dirty="0"/>
          </a:p>
        </p:txBody>
      </p:sp>
      <p:sp>
        <p:nvSpPr>
          <p:cNvPr id="11" name="txt74"/>
          <p:cNvSpPr txBox="1"/>
          <p:nvPr/>
        </p:nvSpPr>
        <p:spPr>
          <a:xfrm>
            <a:off x="356616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타 기관 낙찰단가 원용</a:t>
            </a:r>
            <a:endParaRPr lang="en-US" sz="1500" dirty="0"/>
          </a:p>
        </p:txBody>
      </p:sp>
      <p:sp>
        <p:nvSpPr>
          <p:cNvPr id="12" name="txt75"/>
          <p:cNvSpPr txBox="1"/>
          <p:nvPr/>
        </p:nvSpPr>
        <p:spPr>
          <a:xfrm>
            <a:off x="356616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거래실례가격 아님. 2개 이상 업체 직접 견적</a:t>
            </a:r>
            <a:endParaRPr lang="en-US" sz="1400" dirty="0"/>
          </a:p>
        </p:txBody>
      </p:sp>
      <p:sp>
        <p:nvSpPr>
          <p:cNvPr id="13" name="card76"/>
          <p:cNvSpPr/>
          <p:nvPr/>
        </p:nvSpPr>
        <p:spPr>
          <a:xfrm>
            <a:off x="6126480" y="137160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txt77"/>
          <p:cNvSpPr txBox="1"/>
          <p:nvPr/>
        </p:nvSpPr>
        <p:spPr>
          <a:xfrm>
            <a:off x="6355080" y="1554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03</a:t>
            </a:r>
            <a:endParaRPr lang="en-US" sz="2200" dirty="0"/>
          </a:p>
        </p:txBody>
      </p:sp>
      <p:sp>
        <p:nvSpPr>
          <p:cNvPr id="15" name="txt78"/>
          <p:cNvSpPr txBox="1"/>
          <p:nvPr/>
        </p:nvSpPr>
        <p:spPr>
          <a:xfrm>
            <a:off x="7589520" y="16276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p.108</a:t>
            </a:r>
            <a:endParaRPr lang="en-US" sz="1000" dirty="0"/>
          </a:p>
        </p:txBody>
      </p:sp>
      <p:sp>
        <p:nvSpPr>
          <p:cNvPr id="16" name="txt79"/>
          <p:cNvSpPr txBox="1"/>
          <p:nvPr/>
        </p:nvSpPr>
        <p:spPr>
          <a:xfrm>
            <a:off x="635508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예정가격과 부가세</a:t>
            </a:r>
            <a:endParaRPr lang="en-US" sz="1500" dirty="0"/>
          </a:p>
        </p:txBody>
      </p:sp>
      <p:sp>
        <p:nvSpPr>
          <p:cNvPr id="17" name="txt80"/>
          <p:cNvSpPr txBox="1"/>
          <p:nvPr/>
        </p:nvSpPr>
        <p:spPr>
          <a:xfrm>
            <a:off x="635508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포함. 면세사업자는 공제 방식을 공고에 명시</a:t>
            </a:r>
            <a:endParaRPr lang="en-US" sz="1400" dirty="0"/>
          </a:p>
        </p:txBody>
      </p:sp>
      <p:sp>
        <p:nvSpPr>
          <p:cNvPr id="18" name="card81"/>
          <p:cNvSpPr/>
          <p:nvPr/>
        </p:nvSpPr>
        <p:spPr>
          <a:xfrm>
            <a:off x="8915400" y="137160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txt82"/>
          <p:cNvSpPr txBox="1"/>
          <p:nvPr/>
        </p:nvSpPr>
        <p:spPr>
          <a:xfrm>
            <a:off x="9144000" y="1554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04</a:t>
            </a:r>
            <a:endParaRPr lang="en-US" sz="2200" dirty="0"/>
          </a:p>
        </p:txBody>
      </p:sp>
      <p:sp>
        <p:nvSpPr>
          <p:cNvPr id="20" name="txt83"/>
          <p:cNvSpPr txBox="1"/>
          <p:nvPr/>
        </p:nvSpPr>
        <p:spPr>
          <a:xfrm>
            <a:off x="10378440" y="16276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p.112</a:t>
            </a:r>
            <a:endParaRPr lang="en-US" sz="1000" dirty="0"/>
          </a:p>
        </p:txBody>
      </p:sp>
      <p:sp>
        <p:nvSpPr>
          <p:cNvPr id="21" name="txt84"/>
          <p:cNvSpPr txBox="1"/>
          <p:nvPr/>
        </p:nvSpPr>
        <p:spPr>
          <a:xfrm>
            <a:off x="9144000" y="2057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재공고 후 수의계약</a:t>
            </a:r>
            <a:endParaRPr lang="en-US" sz="1500" dirty="0"/>
          </a:p>
        </p:txBody>
      </p:sp>
      <p:sp>
        <p:nvSpPr>
          <p:cNvPr id="22" name="txt85"/>
          <p:cNvSpPr txBox="1"/>
          <p:nvPr/>
        </p:nvSpPr>
        <p:spPr>
          <a:xfrm>
            <a:off x="9144000" y="2560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보증금·기한 외 최초 조건 모두 유지, 기초금액 ±2%</a:t>
            </a:r>
            <a:endParaRPr lang="en-US" sz="1400" dirty="0"/>
          </a:p>
        </p:txBody>
      </p:sp>
      <p:sp>
        <p:nvSpPr>
          <p:cNvPr id="23" name="card86"/>
          <p:cNvSpPr/>
          <p:nvPr/>
        </p:nvSpPr>
        <p:spPr>
          <a:xfrm>
            <a:off x="548640" y="374904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txt87"/>
          <p:cNvSpPr txBox="1"/>
          <p:nvPr/>
        </p:nvSpPr>
        <p:spPr>
          <a:xfrm>
            <a:off x="777240" y="3931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05</a:t>
            </a:r>
            <a:endParaRPr lang="en-US" sz="2200" dirty="0"/>
          </a:p>
        </p:txBody>
      </p:sp>
      <p:sp>
        <p:nvSpPr>
          <p:cNvPr id="25" name="txt88"/>
          <p:cNvSpPr txBox="1"/>
          <p:nvPr/>
        </p:nvSpPr>
        <p:spPr>
          <a:xfrm>
            <a:off x="2011680" y="4005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p.117</a:t>
            </a:r>
            <a:endParaRPr lang="en-US" sz="1000" dirty="0"/>
          </a:p>
        </p:txBody>
      </p:sp>
      <p:sp>
        <p:nvSpPr>
          <p:cNvPr id="26" name="txt89"/>
          <p:cNvSpPr txBox="1"/>
          <p:nvPr/>
        </p:nvSpPr>
        <p:spPr>
          <a:xfrm>
            <a:off x="777240" y="4434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1순위 부적격</a:t>
            </a:r>
            <a:endParaRPr lang="en-US" sz="1500" dirty="0"/>
          </a:p>
        </p:txBody>
      </p:sp>
      <p:sp>
        <p:nvSpPr>
          <p:cNvPr id="27" name="txt90"/>
          <p:cNvSpPr txBox="1"/>
          <p:nvPr/>
        </p:nvSpPr>
        <p:spPr>
          <a:xfrm>
            <a:off x="777240" y="4937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유효 입찰자 2인 이상이면 차순위로 진행</a:t>
            </a:r>
            <a:endParaRPr lang="en-US" sz="1400" dirty="0"/>
          </a:p>
        </p:txBody>
      </p:sp>
      <p:sp>
        <p:nvSpPr>
          <p:cNvPr id="28" name="card91"/>
          <p:cNvSpPr/>
          <p:nvPr/>
        </p:nvSpPr>
        <p:spPr>
          <a:xfrm>
            <a:off x="3337560" y="374904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txt92"/>
          <p:cNvSpPr txBox="1"/>
          <p:nvPr/>
        </p:nvSpPr>
        <p:spPr>
          <a:xfrm>
            <a:off x="3566160" y="3931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06</a:t>
            </a:r>
            <a:endParaRPr lang="en-US" sz="2200" dirty="0"/>
          </a:p>
        </p:txBody>
      </p:sp>
      <p:sp>
        <p:nvSpPr>
          <p:cNvPr id="30" name="txt93"/>
          <p:cNvSpPr txBox="1"/>
          <p:nvPr/>
        </p:nvSpPr>
        <p:spPr>
          <a:xfrm>
            <a:off x="4800600" y="4005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p.120</a:t>
            </a:r>
            <a:endParaRPr lang="en-US" sz="1000" dirty="0"/>
          </a:p>
        </p:txBody>
      </p:sp>
      <p:sp>
        <p:nvSpPr>
          <p:cNvPr id="31" name="txt94"/>
          <p:cNvSpPr txBox="1"/>
          <p:nvPr/>
        </p:nvSpPr>
        <p:spPr>
          <a:xfrm>
            <a:off x="3566160" y="4434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협상계약 수의 전환</a:t>
            </a:r>
            <a:endParaRPr lang="en-US" sz="1500" dirty="0"/>
          </a:p>
        </p:txBody>
      </p:sp>
      <p:sp>
        <p:nvSpPr>
          <p:cNvPr id="32" name="txt95"/>
          <p:cNvSpPr txBox="1"/>
          <p:nvPr/>
        </p:nvSpPr>
        <p:spPr>
          <a:xfrm>
            <a:off x="3566160" y="4937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단독이어도 제안서평가위원회 심의 필수</a:t>
            </a:r>
            <a:endParaRPr lang="en-US" sz="1400" dirty="0"/>
          </a:p>
        </p:txBody>
      </p:sp>
      <p:sp>
        <p:nvSpPr>
          <p:cNvPr id="33" name="card96"/>
          <p:cNvSpPr/>
          <p:nvPr/>
        </p:nvSpPr>
        <p:spPr>
          <a:xfrm>
            <a:off x="6126480" y="374904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34" name="txt97"/>
          <p:cNvSpPr txBox="1"/>
          <p:nvPr/>
        </p:nvSpPr>
        <p:spPr>
          <a:xfrm>
            <a:off x="6355080" y="3931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07</a:t>
            </a:r>
            <a:endParaRPr lang="en-US" sz="2200" dirty="0"/>
          </a:p>
        </p:txBody>
      </p:sp>
      <p:sp>
        <p:nvSpPr>
          <p:cNvPr id="35" name="txt98"/>
          <p:cNvSpPr txBox="1"/>
          <p:nvPr/>
        </p:nvSpPr>
        <p:spPr>
          <a:xfrm>
            <a:off x="7589520" y="4005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p.123</a:t>
            </a:r>
            <a:endParaRPr lang="en-US" sz="1000" dirty="0"/>
          </a:p>
        </p:txBody>
      </p:sp>
      <p:sp>
        <p:nvSpPr>
          <p:cNvPr id="36" name="txt99"/>
          <p:cNvSpPr txBox="1"/>
          <p:nvPr/>
        </p:nvSpPr>
        <p:spPr>
          <a:xfrm>
            <a:off x="6355080" y="4434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예정가격 산정 오류</a:t>
            </a:r>
            <a:endParaRPr lang="en-US" sz="1500" dirty="0"/>
          </a:p>
        </p:txBody>
      </p:sp>
      <p:sp>
        <p:nvSpPr>
          <p:cNvPr id="37" name="txt100"/>
          <p:cNvSpPr txBox="1"/>
          <p:nvPr/>
        </p:nvSpPr>
        <p:spPr>
          <a:xfrm>
            <a:off x="6355080" y="4937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계약 후 금액조정·사후정산 불가</a:t>
            </a:r>
            <a:endParaRPr lang="en-US" sz="1400" dirty="0"/>
          </a:p>
        </p:txBody>
      </p:sp>
      <p:sp>
        <p:nvSpPr>
          <p:cNvPr id="38" name="card101"/>
          <p:cNvSpPr/>
          <p:nvPr/>
        </p:nvSpPr>
        <p:spPr>
          <a:xfrm>
            <a:off x="8915400" y="374904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39" name="txt102"/>
          <p:cNvSpPr txBox="1"/>
          <p:nvPr/>
        </p:nvSpPr>
        <p:spPr>
          <a:xfrm>
            <a:off x="9144000" y="3931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08</a:t>
            </a:r>
            <a:endParaRPr lang="en-US" sz="2200" dirty="0"/>
          </a:p>
        </p:txBody>
      </p:sp>
      <p:sp>
        <p:nvSpPr>
          <p:cNvPr id="40" name="txt103"/>
          <p:cNvSpPr txBox="1"/>
          <p:nvPr/>
        </p:nvSpPr>
        <p:spPr>
          <a:xfrm>
            <a:off x="10378440" y="40050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p.125</a:t>
            </a:r>
            <a:endParaRPr lang="en-US" sz="1000" dirty="0"/>
          </a:p>
        </p:txBody>
      </p:sp>
      <p:sp>
        <p:nvSpPr>
          <p:cNvPr id="41" name="txt104"/>
          <p:cNvSpPr txBox="1"/>
          <p:nvPr/>
        </p:nvSpPr>
        <p:spPr>
          <a:xfrm>
            <a:off x="9144000" y="4434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견적 제출자 계약 거부</a:t>
            </a:r>
            <a:endParaRPr lang="en-US" sz="1500" dirty="0"/>
          </a:p>
        </p:txBody>
      </p:sp>
      <p:sp>
        <p:nvSpPr>
          <p:cNvPr id="42" name="txt105"/>
          <p:cNvSpPr txBox="1"/>
          <p:nvPr/>
        </p:nvSpPr>
        <p:spPr>
          <a:xfrm>
            <a:off x="9144000" y="4937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제재 불가, 3개월간 수의계약 대상 제외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감사사례 10선 — 무엇이 지적되고 어떻게 막나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108960"/>
                <a:gridCol w="4206240"/>
                <a:gridCol w="329184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사례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지적 내용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</a:rPr>
                        <a:t>예방 포인트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B3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4"/>
                          </a:solidFill>
                        </a:rPr>
                        <a:t>1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특허수의 권리권자 확인 부적정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실시권 범위(생산·사용 한정) 미확인 → 징계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</a:rPr>
                        <a:t>등록원부·대체품 조사 첨부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4"/>
                          </a:solidFill>
                        </a:rPr>
                        <a:t>2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재공고 후 수의 상대 선정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이전 응찰자 비교 없이 1개사와 계약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</a:rPr>
                        <a:t>이전 회차 응찰자 전원 비교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4"/>
                          </a:solidFill>
                        </a:rPr>
                        <a:t>3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공고와 다른 공동수급 방식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분담 공고에 혼합방식 컨소시엄 선정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</a:rPr>
                        <a:t>협정서 방식 대조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4"/>
                          </a:solidFill>
                        </a:rPr>
                        <a:t>4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제재 중인 업체와 계약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2건 27억 3,756만원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</a:rPr>
                        <a:t>계약 직전 부정당업자 재조회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4"/>
                          </a:solidFill>
                        </a:rPr>
                        <a:t>5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지체상금률 오적용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SW 일괄입찰에 1.25/1000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</a:rPr>
                        <a:t>유형별 요율표 확인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4"/>
                          </a:solidFill>
                        </a:rPr>
                        <a:t>6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보증증권 미확보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5차례 연장 중 증권 미수령 → 지급거절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</a:rPr>
                        <a:t>증권 먼저 받고 연장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4"/>
                          </a:solidFill>
                        </a:rPr>
                        <a:t>7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납품 포기를 감액 처리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해제·제재 없이 1억원 감액 → 징계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</a:rPr>
                        <a:t>납품 포기 = 계약불이행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4"/>
                          </a:solidFill>
                        </a:rPr>
                        <a:t>8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면세사업자 부가세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12건 부가세 2,054만원 미공제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</a:rPr>
                        <a:t>공고·계약서에 명시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4"/>
                          </a:solidFill>
                        </a:rPr>
                        <a:t>9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보험료 사후정산 누락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280만원 미정산, 산출내역서 미첨부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</a:rPr>
                        <a:t>납부확인 후 정산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4"/>
                          </a:solidFill>
                        </a:rPr>
                        <a:t>10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tx1"/>
                          </a:solidFill>
                        </a:rPr>
                        <a:t>기성대가 과다 지급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chemeClr val="tx1"/>
                          </a:solidFill>
                        </a:rPr>
                        <a:t>증빙보다 3,676만원 초과 지급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1"/>
                          </a:solidFill>
                        </a:rPr>
                        <a:t>청구액-증빙 대조</a:t>
                      </a:r>
                      <a:endParaRPr lang="en-US" sz="12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xt106"/>
          <p:cNvSpPr txBox="1"/>
          <p:nvPr/>
        </p:nvSpPr>
        <p:spPr>
          <a:xfrm>
            <a:off x="8869680" y="6053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자료집 p.129~136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계약 단계별 체크리스트</a:t>
            </a:r>
            <a:endParaRPr lang="en-US" sz="2800" dirty="0"/>
          </a:p>
        </p:txBody>
      </p:sp>
      <p:sp>
        <p:nvSpPr>
          <p:cNvPr id="3" name="card107"/>
          <p:cNvSpPr/>
          <p:nvPr/>
        </p:nvSpPr>
        <p:spPr>
          <a:xfrm>
            <a:off x="548640" y="1371600"/>
            <a:ext cx="3520440" cy="4663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4" name="iconCircle108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10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777594"/>
            <a:ext cx="285293" cy="285293"/>
          </a:xfrm>
          <a:prstGeom prst="rect">
            <a:avLst/>
          </a:prstGeom>
        </p:spPr>
      </p:pic>
      <p:sp>
        <p:nvSpPr>
          <p:cNvPr id="6" name="txt109"/>
          <p:cNvSpPr txBox="1"/>
          <p:nvPr/>
        </p:nvSpPr>
        <p:spPr>
          <a:xfrm>
            <a:off x="150876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공고·가격</a:t>
            </a:r>
            <a:endParaRPr lang="en-US" sz="1900" dirty="0"/>
          </a:p>
        </p:txBody>
      </p:sp>
      <p:sp>
        <p:nvSpPr>
          <p:cNvPr id="7" name="txt110"/>
          <p:cNvSpPr txBox="1"/>
          <p:nvPr/>
        </p:nvSpPr>
        <p:spPr>
          <a:xfrm>
            <a:off x="822960" y="251460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☐  공고문과 시스템 입력값 일치</a:t>
            </a:r>
            <a:endParaRPr lang="en-US" sz="16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☐  예산 미확정 공고 시 변경·취소 문구</a:t>
            </a:r>
            <a:endParaRPr lang="en-US" sz="16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☐  2개 이상 업체 직접 견적</a:t>
            </a:r>
            <a:endParaRPr lang="en-US" sz="16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☐  면세사업자 부가세 처리 명시</a:t>
            </a:r>
            <a:endParaRPr lang="en-US" sz="16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☐  특정 모델·상표 지정 금지</a:t>
            </a:r>
            <a:endParaRPr lang="en-US" sz="1600" dirty="0"/>
          </a:p>
        </p:txBody>
      </p:sp>
      <p:sp>
        <p:nvSpPr>
          <p:cNvPr id="8" name="card111"/>
          <p:cNvSpPr/>
          <p:nvPr/>
        </p:nvSpPr>
        <p:spPr>
          <a:xfrm>
            <a:off x="4297680" y="1371600"/>
            <a:ext cx="3520440" cy="4663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9" name="iconCircle112"/>
          <p:cNvSpPr/>
          <p:nvPr/>
        </p:nvSpPr>
        <p:spPr>
          <a:xfrm>
            <a:off x="457200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11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674" y="1777594"/>
            <a:ext cx="285293" cy="285293"/>
          </a:xfrm>
          <a:prstGeom prst="rect">
            <a:avLst/>
          </a:prstGeom>
        </p:spPr>
      </p:pic>
      <p:sp>
        <p:nvSpPr>
          <p:cNvPr id="11" name="txt113"/>
          <p:cNvSpPr txBox="1"/>
          <p:nvPr/>
        </p:nvSpPr>
        <p:spPr>
          <a:xfrm>
            <a:off x="525780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유찰·수의·낙찰</a:t>
            </a:r>
            <a:endParaRPr lang="en-US" sz="1900" dirty="0"/>
          </a:p>
        </p:txBody>
      </p:sp>
      <p:sp>
        <p:nvSpPr>
          <p:cNvPr id="12" name="txt114"/>
          <p:cNvSpPr txBox="1"/>
          <p:nvPr/>
        </p:nvSpPr>
        <p:spPr>
          <a:xfrm>
            <a:off x="4572000" y="251460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☐  재공고 후 수의: 최초 조건 유지</a:t>
            </a:r>
            <a:endParaRPr lang="en-US" sz="16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☐  이전 회차 응찰자 전원 비교</a:t>
            </a:r>
            <a:endParaRPr lang="en-US" sz="16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☐  협상계약은 평가위원회 심의</a:t>
            </a:r>
            <a:endParaRPr lang="en-US" sz="16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☐  유효 2인 이상이면 차순위 진행</a:t>
            </a:r>
            <a:endParaRPr lang="en-US" sz="16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☐  계약 직전 부정당업자 재조회</a:t>
            </a:r>
            <a:endParaRPr lang="en-US" sz="1600" dirty="0"/>
          </a:p>
        </p:txBody>
      </p:sp>
      <p:sp>
        <p:nvSpPr>
          <p:cNvPr id="13" name="card115"/>
          <p:cNvSpPr/>
          <p:nvPr/>
        </p:nvSpPr>
        <p:spPr>
          <a:xfrm>
            <a:off x="8046720" y="1371600"/>
            <a:ext cx="3520440" cy="4663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4" name="iconCircle116"/>
          <p:cNvSpPr/>
          <p:nvPr/>
        </p:nvSpPr>
        <p:spPr>
          <a:xfrm>
            <a:off x="832104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11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714" y="1777594"/>
            <a:ext cx="285293" cy="285293"/>
          </a:xfrm>
          <a:prstGeom prst="rect">
            <a:avLst/>
          </a:prstGeom>
        </p:spPr>
      </p:pic>
      <p:sp>
        <p:nvSpPr>
          <p:cNvPr id="16" name="txt117"/>
          <p:cNvSpPr txBox="1"/>
          <p:nvPr/>
        </p:nvSpPr>
        <p:spPr>
          <a:xfrm>
            <a:off x="900684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계약관리·대가</a:t>
            </a:r>
            <a:endParaRPr lang="en-US" sz="1900" dirty="0"/>
          </a:p>
        </p:txBody>
      </p:sp>
      <p:sp>
        <p:nvSpPr>
          <p:cNvPr id="17" name="txt118"/>
          <p:cNvSpPr txBox="1"/>
          <p:nvPr/>
        </p:nvSpPr>
        <p:spPr>
          <a:xfrm>
            <a:off x="8321040" y="2514600"/>
            <a:ext cx="3063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☐  예정가격 오류로 금액조정 불가</a:t>
            </a:r>
            <a:endParaRPr lang="en-US" sz="16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☐  유형별 지체상금률, 상한 30%</a:t>
            </a:r>
            <a:endParaRPr lang="en-US" sz="16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☐  기간 연장 전 증권 연장분 수령</a:t>
            </a:r>
            <a:endParaRPr lang="en-US" sz="16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☐  납품 포기는 해제·제재 대상</a:t>
            </a:r>
            <a:endParaRPr lang="en-US" sz="16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☐  기성 청구액과 증빙 대조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Ⅱ. 연구개발비 사용기준 및 정산절차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BFDCCB"/>
                </a:solidFill>
              </a:rPr>
              <a:t>한국연구재단 연구정산총괄팀 조우현 팀장 · 자료집 p.138~232</a:t>
            </a:r>
            <a:endParaRPr lang="en-US" sz="1600" dirty="0"/>
          </a:p>
        </p:txBody>
      </p:sp>
      <p:sp>
        <p:nvSpPr>
          <p:cNvPr id="4" name="iconCircle119"/>
          <p:cNvSpPr/>
          <p:nvPr/>
        </p:nvSpPr>
        <p:spPr>
          <a:xfrm>
            <a:off x="731520" y="14630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11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682496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앵커에서 이 기준이 적용되는 곳: 산학연공동 기술개발과제</a:t>
            </a:r>
            <a:endParaRPr lang="en-US" sz="2800" dirty="0"/>
          </a:p>
        </p:txBody>
      </p:sp>
      <p:sp>
        <p:nvSpPr>
          <p:cNvPr id="3" name="card120"/>
          <p:cNvSpPr/>
          <p:nvPr/>
        </p:nvSpPr>
        <p:spPr>
          <a:xfrm>
            <a:off x="548640" y="1371600"/>
            <a:ext cx="1106424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4" name="iconCircle121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con12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914754"/>
            <a:ext cx="285293" cy="285293"/>
          </a:xfrm>
          <a:prstGeom prst="rect">
            <a:avLst/>
          </a:prstGeom>
        </p:spPr>
      </p:pic>
      <p:sp>
        <p:nvSpPr>
          <p:cNvPr id="6" name="txt122"/>
          <p:cNvSpPr txBox="1"/>
          <p:nvPr/>
        </p:nvSpPr>
        <p:spPr>
          <a:xfrm>
            <a:off x="1600200" y="1463040"/>
            <a:ext cx="9784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사. 기업지원·협력활동비 → 산학연공동 기술개발과제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산학연공동 매뉴얼(5차)·서울기준 [첨부6]에 따라 연구개발비 9개 비목을 「국가연구개발사업 연구개발비 사용기준」에 맞춰 집행합니다. 교원의 국가R&amp;D 과제에도 그대로 적용됩니다.</a:t>
            </a:r>
            <a:endParaRPr lang="en-US" sz="1400" dirty="0"/>
          </a:p>
        </p:txBody>
      </p:sp>
      <p:sp>
        <p:nvSpPr>
          <p:cNvPr id="7" name="card123"/>
          <p:cNvSpPr/>
          <p:nvPr/>
        </p:nvSpPr>
        <p:spPr>
          <a:xfrm>
            <a:off x="548640" y="3200400"/>
            <a:ext cx="2011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8" name="txt124"/>
          <p:cNvSpPr txBox="1"/>
          <p:nvPr/>
        </p:nvSpPr>
        <p:spPr>
          <a:xfrm>
            <a:off x="731520" y="3337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법률</a:t>
            </a:r>
            <a:endParaRPr lang="en-US" sz="1200" dirty="0"/>
          </a:p>
        </p:txBody>
      </p:sp>
      <p:sp>
        <p:nvSpPr>
          <p:cNvPr id="9" name="txt125"/>
          <p:cNvSpPr txBox="1"/>
          <p:nvPr/>
        </p:nvSpPr>
        <p:spPr>
          <a:xfrm>
            <a:off x="731520" y="3657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국가연구개발혁신법</a:t>
            </a:r>
            <a:endParaRPr lang="en-US" sz="1500" dirty="0"/>
          </a:p>
        </p:txBody>
      </p:sp>
      <p:sp>
        <p:nvSpPr>
          <p:cNvPr id="10" name="txt126"/>
          <p:cNvSpPr txBox="1"/>
          <p:nvPr/>
        </p:nvSpPr>
        <p:spPr>
          <a:xfrm>
            <a:off x="2560320" y="35204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›</a:t>
            </a:r>
            <a:endParaRPr lang="en-US" sz="2600" dirty="0"/>
          </a:p>
        </p:txBody>
      </p:sp>
      <p:sp>
        <p:nvSpPr>
          <p:cNvPr id="11" name="card127"/>
          <p:cNvSpPr/>
          <p:nvPr/>
        </p:nvSpPr>
        <p:spPr>
          <a:xfrm>
            <a:off x="2816352" y="3200400"/>
            <a:ext cx="2011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2" name="txt128"/>
          <p:cNvSpPr txBox="1"/>
          <p:nvPr/>
        </p:nvSpPr>
        <p:spPr>
          <a:xfrm>
            <a:off x="2999232" y="3337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대통령령</a:t>
            </a:r>
            <a:endParaRPr lang="en-US" sz="1200" dirty="0"/>
          </a:p>
        </p:txBody>
      </p:sp>
      <p:sp>
        <p:nvSpPr>
          <p:cNvPr id="13" name="txt129"/>
          <p:cNvSpPr txBox="1"/>
          <p:nvPr/>
        </p:nvSpPr>
        <p:spPr>
          <a:xfrm>
            <a:off x="2999232" y="3657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시행령</a:t>
            </a:r>
            <a:endParaRPr lang="en-US" sz="1500" dirty="0"/>
          </a:p>
        </p:txBody>
      </p:sp>
      <p:sp>
        <p:nvSpPr>
          <p:cNvPr id="14" name="txt130"/>
          <p:cNvSpPr txBox="1"/>
          <p:nvPr/>
        </p:nvSpPr>
        <p:spPr>
          <a:xfrm>
            <a:off x="4828032" y="35204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›</a:t>
            </a:r>
            <a:endParaRPr lang="en-US" sz="2600" dirty="0"/>
          </a:p>
        </p:txBody>
      </p:sp>
      <p:sp>
        <p:nvSpPr>
          <p:cNvPr id="15" name="card131"/>
          <p:cNvSpPr/>
          <p:nvPr/>
        </p:nvSpPr>
        <p:spPr>
          <a:xfrm>
            <a:off x="5084064" y="3200400"/>
            <a:ext cx="2011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6" name="txt132"/>
          <p:cNvSpPr txBox="1"/>
          <p:nvPr/>
        </p:nvSpPr>
        <p:spPr>
          <a:xfrm>
            <a:off x="5266944" y="3337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부령</a:t>
            </a:r>
            <a:endParaRPr lang="en-US" sz="1200" dirty="0"/>
          </a:p>
        </p:txBody>
      </p:sp>
      <p:sp>
        <p:nvSpPr>
          <p:cNvPr id="17" name="txt133"/>
          <p:cNvSpPr txBox="1"/>
          <p:nvPr/>
        </p:nvSpPr>
        <p:spPr>
          <a:xfrm>
            <a:off x="5266944" y="3657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시행규칙</a:t>
            </a:r>
            <a:endParaRPr lang="en-US" sz="1500" dirty="0"/>
          </a:p>
        </p:txBody>
      </p:sp>
      <p:sp>
        <p:nvSpPr>
          <p:cNvPr id="18" name="txt134"/>
          <p:cNvSpPr txBox="1"/>
          <p:nvPr/>
        </p:nvSpPr>
        <p:spPr>
          <a:xfrm>
            <a:off x="7095744" y="35204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›</a:t>
            </a:r>
            <a:endParaRPr lang="en-US" sz="2600" dirty="0"/>
          </a:p>
        </p:txBody>
      </p:sp>
      <p:sp>
        <p:nvSpPr>
          <p:cNvPr id="19" name="card135"/>
          <p:cNvSpPr/>
          <p:nvPr/>
        </p:nvSpPr>
        <p:spPr>
          <a:xfrm>
            <a:off x="7351776" y="3200400"/>
            <a:ext cx="2011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0" name="txt136"/>
          <p:cNvSpPr txBox="1"/>
          <p:nvPr/>
        </p:nvSpPr>
        <p:spPr>
          <a:xfrm>
            <a:off x="7534656" y="3337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고시</a:t>
            </a:r>
            <a:endParaRPr lang="en-US" sz="1200" dirty="0"/>
          </a:p>
        </p:txBody>
      </p:sp>
      <p:sp>
        <p:nvSpPr>
          <p:cNvPr id="21" name="txt137"/>
          <p:cNvSpPr txBox="1"/>
          <p:nvPr/>
        </p:nvSpPr>
        <p:spPr>
          <a:xfrm>
            <a:off x="7534656" y="3657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연구개발비 사용기준</a:t>
            </a:r>
            <a:endParaRPr lang="en-US" sz="1500" dirty="0"/>
          </a:p>
        </p:txBody>
      </p:sp>
      <p:sp>
        <p:nvSpPr>
          <p:cNvPr id="22" name="txt138"/>
          <p:cNvSpPr txBox="1"/>
          <p:nvPr/>
        </p:nvSpPr>
        <p:spPr>
          <a:xfrm>
            <a:off x="9363456" y="352044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›</a:t>
            </a:r>
            <a:endParaRPr lang="en-US" sz="2600" dirty="0"/>
          </a:p>
        </p:txBody>
      </p:sp>
      <p:sp>
        <p:nvSpPr>
          <p:cNvPr id="23" name="card139"/>
          <p:cNvSpPr/>
          <p:nvPr/>
        </p:nvSpPr>
        <p:spPr>
          <a:xfrm>
            <a:off x="9619488" y="3200400"/>
            <a:ext cx="2011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24" name="txt140"/>
          <p:cNvSpPr txBox="1"/>
          <p:nvPr/>
        </p:nvSpPr>
        <p:spPr>
          <a:xfrm>
            <a:off x="9802368" y="3337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지침</a:t>
            </a:r>
            <a:endParaRPr lang="en-US" sz="1200" dirty="0"/>
          </a:p>
        </p:txBody>
      </p:sp>
      <p:sp>
        <p:nvSpPr>
          <p:cNvPr id="25" name="txt141"/>
          <p:cNvSpPr txBox="1"/>
          <p:nvPr/>
        </p:nvSpPr>
        <p:spPr>
          <a:xfrm>
            <a:off x="9802368" y="36576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혁신법 매뉴얼</a:t>
            </a:r>
            <a:endParaRPr lang="en-US" sz="1500" dirty="0"/>
          </a:p>
        </p:txBody>
      </p:sp>
      <p:sp>
        <p:nvSpPr>
          <p:cNvPr id="26" name="txt142"/>
          <p:cNvSpPr txBox="1"/>
          <p:nvPr/>
        </p:nvSpPr>
        <p:spPr>
          <a:xfrm>
            <a:off x="548640" y="4754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함께 보는 규정: 시설·장비 관리 표준지침, 학생인건비 통합관리 매뉴얼, 제재처분 가이드라인, 연구노트 지침 (p.142~146)</a:t>
            </a:r>
            <a:endParaRPr lang="en-US" sz="1300" dirty="0"/>
          </a:p>
        </p:txBody>
      </p:sp>
      <p:sp>
        <p:nvSpPr>
          <p:cNvPr id="27" name="txt143"/>
          <p:cNvSpPr txBox="1"/>
          <p:nvPr/>
        </p:nvSpPr>
        <p:spPr>
          <a:xfrm>
            <a:off x="548640" y="5303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앵커 사업비 일반 항목(가~자)은 보조금 성격이라 앵커 지침·서울기준이 우선합니다. 사용기준을 사업비 전체에 일괄 적용하지 마세요.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연구개발비 사용 공통기준 6가지</a:t>
            </a:r>
            <a:endParaRPr lang="en-US" sz="2800" dirty="0"/>
          </a:p>
        </p:txBody>
      </p:sp>
      <p:sp>
        <p:nvSpPr>
          <p:cNvPr id="3" name="card144"/>
          <p:cNvSpPr/>
          <p:nvPr/>
        </p:nvSpPr>
        <p:spPr>
          <a:xfrm>
            <a:off x="548640" y="137160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iconCircle145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14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777594"/>
            <a:ext cx="285293" cy="285293"/>
          </a:xfrm>
          <a:prstGeom prst="rect">
            <a:avLst/>
          </a:prstGeom>
        </p:spPr>
      </p:pic>
      <p:sp>
        <p:nvSpPr>
          <p:cNvPr id="6" name="txt146"/>
          <p:cNvSpPr txBox="1"/>
          <p:nvPr/>
        </p:nvSpPr>
        <p:spPr>
          <a:xfrm>
            <a:off x="150876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사용계획 확인</a:t>
            </a:r>
            <a:endParaRPr lang="en-US" sz="1700" dirty="0"/>
          </a:p>
        </p:txBody>
      </p:sp>
      <p:sp>
        <p:nvSpPr>
          <p:cNvPr id="7" name="txt147"/>
          <p:cNvSpPr txBox="1"/>
          <p:nvPr/>
        </p:nvSpPr>
        <p:spPr>
          <a:xfrm>
            <a:off x="822960" y="23317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계상한 대로 사용. 간접비·연구수당 증액은 통보가 아닌 승인 대상, 승인 통보 15일</a:t>
            </a:r>
            <a:endParaRPr lang="en-US" sz="1500" dirty="0"/>
          </a:p>
        </p:txBody>
      </p:sp>
      <p:sp>
        <p:nvSpPr>
          <p:cNvPr id="8" name="card148"/>
          <p:cNvSpPr/>
          <p:nvPr/>
        </p:nvSpPr>
        <p:spPr>
          <a:xfrm>
            <a:off x="4297680" y="137160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iconCircle149"/>
          <p:cNvSpPr/>
          <p:nvPr/>
        </p:nvSpPr>
        <p:spPr>
          <a:xfrm>
            <a:off x="457200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14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674" y="1777594"/>
            <a:ext cx="285293" cy="285293"/>
          </a:xfrm>
          <a:prstGeom prst="rect">
            <a:avLst/>
          </a:prstGeom>
        </p:spPr>
      </p:pic>
      <p:sp>
        <p:nvSpPr>
          <p:cNvPr id="11" name="txt150"/>
          <p:cNvSpPr txBox="1"/>
          <p:nvPr/>
        </p:nvSpPr>
        <p:spPr>
          <a:xfrm>
            <a:off x="525780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관련 규정 준수</a:t>
            </a:r>
            <a:endParaRPr lang="en-US" sz="1700" dirty="0"/>
          </a:p>
        </p:txBody>
      </p:sp>
      <p:sp>
        <p:nvSpPr>
          <p:cNvPr id="12" name="txt151"/>
          <p:cNvSpPr txBox="1"/>
          <p:nvPr/>
        </p:nvSpPr>
        <p:spPr>
          <a:xfrm>
            <a:off x="4572000" y="23317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법령 → 협약 → 자체규정. 협약서·공고문 확인 필수</a:t>
            </a:r>
            <a:endParaRPr lang="en-US" sz="1500" dirty="0"/>
          </a:p>
        </p:txBody>
      </p:sp>
      <p:sp>
        <p:nvSpPr>
          <p:cNvPr id="13" name="card152"/>
          <p:cNvSpPr/>
          <p:nvPr/>
        </p:nvSpPr>
        <p:spPr>
          <a:xfrm>
            <a:off x="8046720" y="137160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iconCircle153"/>
          <p:cNvSpPr/>
          <p:nvPr/>
        </p:nvSpPr>
        <p:spPr>
          <a:xfrm>
            <a:off x="832104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15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714" y="1777594"/>
            <a:ext cx="285293" cy="285293"/>
          </a:xfrm>
          <a:prstGeom prst="rect">
            <a:avLst/>
          </a:prstGeom>
        </p:spPr>
      </p:pic>
      <p:sp>
        <p:nvSpPr>
          <p:cNvPr id="16" name="txt154"/>
          <p:cNvSpPr txBox="1"/>
          <p:nvPr/>
        </p:nvSpPr>
        <p:spPr>
          <a:xfrm>
            <a:off x="900684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사용 기본원칙</a:t>
            </a:r>
            <a:endParaRPr lang="en-US" sz="1700" dirty="0"/>
          </a:p>
        </p:txBody>
      </p:sp>
      <p:sp>
        <p:nvSpPr>
          <p:cNvPr id="17" name="txt155"/>
          <p:cNvSpPr txBox="1"/>
          <p:nvPr/>
        </p:nvSpPr>
        <p:spPr>
          <a:xfrm>
            <a:off x="8321040" y="23317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과제 관련 비용만. 부가세 매입세액·유흥성 비용·중복계상·내부거래 계상 불가</a:t>
            </a:r>
            <a:endParaRPr lang="en-US" sz="1500" dirty="0"/>
          </a:p>
        </p:txBody>
      </p:sp>
      <p:sp>
        <p:nvSpPr>
          <p:cNvPr id="18" name="card156"/>
          <p:cNvSpPr/>
          <p:nvPr/>
        </p:nvSpPr>
        <p:spPr>
          <a:xfrm>
            <a:off x="548640" y="37490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iconCircle157"/>
          <p:cNvSpPr/>
          <p:nvPr/>
        </p:nvSpPr>
        <p:spPr>
          <a:xfrm>
            <a:off x="822960" y="4023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15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4155034"/>
            <a:ext cx="285293" cy="285293"/>
          </a:xfrm>
          <a:prstGeom prst="rect">
            <a:avLst/>
          </a:prstGeom>
        </p:spPr>
      </p:pic>
      <p:sp>
        <p:nvSpPr>
          <p:cNvPr id="21" name="txt158"/>
          <p:cNvSpPr txBox="1"/>
          <p:nvPr/>
        </p:nvSpPr>
        <p:spPr>
          <a:xfrm>
            <a:off x="150876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기간 내 사용</a:t>
            </a:r>
            <a:endParaRPr lang="en-US" sz="1700" dirty="0"/>
          </a:p>
        </p:txBody>
      </p:sp>
      <p:sp>
        <p:nvSpPr>
          <p:cNvPr id="22" name="txt159"/>
          <p:cNvSpPr txBox="1"/>
          <p:nvPr/>
        </p:nvSpPr>
        <p:spPr>
          <a:xfrm>
            <a:off x="822960" y="47091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협약기간 내 집행. 연구수당·지출원인행위분은 종료 후 3개월(보고일)까지</a:t>
            </a:r>
            <a:endParaRPr lang="en-US" sz="1500" dirty="0"/>
          </a:p>
        </p:txBody>
      </p:sp>
      <p:sp>
        <p:nvSpPr>
          <p:cNvPr id="23" name="card160"/>
          <p:cNvSpPr/>
          <p:nvPr/>
        </p:nvSpPr>
        <p:spPr>
          <a:xfrm>
            <a:off x="4297680" y="37490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iconCircle161"/>
          <p:cNvSpPr/>
          <p:nvPr/>
        </p:nvSpPr>
        <p:spPr>
          <a:xfrm>
            <a:off x="4572000" y="4023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16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674" y="4155034"/>
            <a:ext cx="285293" cy="285293"/>
          </a:xfrm>
          <a:prstGeom prst="rect">
            <a:avLst/>
          </a:prstGeom>
        </p:spPr>
      </p:pic>
      <p:sp>
        <p:nvSpPr>
          <p:cNvPr id="26" name="txt162"/>
          <p:cNvSpPr txBox="1"/>
          <p:nvPr/>
        </p:nvSpPr>
        <p:spPr>
          <a:xfrm>
            <a:off x="525780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사용방법·절차</a:t>
            </a:r>
            <a:endParaRPr lang="en-US" sz="1700" dirty="0"/>
          </a:p>
        </p:txBody>
      </p:sp>
      <p:sp>
        <p:nvSpPr>
          <p:cNvPr id="27" name="txt163"/>
          <p:cNvSpPr txBox="1"/>
          <p:nvPr/>
        </p:nvSpPr>
        <p:spPr>
          <a:xfrm>
            <a:off x="4572000" y="47091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장비·재료·활동비·연구수당은 연구책임자 발의. 연구비카드·계좌이체, 검수 필수</a:t>
            </a:r>
            <a:endParaRPr lang="en-US" sz="1500" dirty="0"/>
          </a:p>
        </p:txBody>
      </p:sp>
      <p:sp>
        <p:nvSpPr>
          <p:cNvPr id="28" name="card164"/>
          <p:cNvSpPr/>
          <p:nvPr/>
        </p:nvSpPr>
        <p:spPr>
          <a:xfrm>
            <a:off x="8046720" y="37490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iconCircle165"/>
          <p:cNvSpPr/>
          <p:nvPr/>
        </p:nvSpPr>
        <p:spPr>
          <a:xfrm>
            <a:off x="8321040" y="4023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16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2714" y="4155034"/>
            <a:ext cx="285293" cy="285293"/>
          </a:xfrm>
          <a:prstGeom prst="rect">
            <a:avLst/>
          </a:prstGeom>
        </p:spPr>
      </p:pic>
      <p:sp>
        <p:nvSpPr>
          <p:cNvPr id="31" name="txt166"/>
          <p:cNvSpPr txBox="1"/>
          <p:nvPr/>
        </p:nvSpPr>
        <p:spPr>
          <a:xfrm>
            <a:off x="900684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증명자료 구비</a:t>
            </a:r>
            <a:endParaRPr lang="en-US" sz="1700" dirty="0"/>
          </a:p>
        </p:txBody>
      </p:sp>
      <p:sp>
        <p:nvSpPr>
          <p:cNvPr id="32" name="txt167"/>
          <p:cNvSpPr txBox="1"/>
          <p:nvPr/>
        </p:nvSpPr>
        <p:spPr>
          <a:xfrm>
            <a:off x="8321040" y="47091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종료 후 5년 보관. 전자문서로 갈음 가능</a:t>
            </a:r>
            <a:endParaRPr lang="en-US" sz="1500" dirty="0"/>
          </a:p>
        </p:txBody>
      </p:sp>
      <p:sp>
        <p:nvSpPr>
          <p:cNvPr id="33" name="txt168"/>
          <p:cNvSpPr txBox="1"/>
          <p:nvPr/>
        </p:nvSpPr>
        <p:spPr>
          <a:xfrm>
            <a:off x="8869680" y="6053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사용기준 제18·22·70·72·73조 · p.148~165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비목별로 꼭 기억할 숫자</a:t>
            </a:r>
            <a:endParaRPr lang="en-US" sz="2800" dirty="0"/>
          </a:p>
        </p:txBody>
      </p:sp>
      <p:sp>
        <p:nvSpPr>
          <p:cNvPr id="3" name="card169"/>
          <p:cNvSpPr/>
          <p:nvPr/>
        </p:nvSpPr>
        <p:spPr>
          <a:xfrm>
            <a:off x="548640" y="137160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txt170"/>
          <p:cNvSpPr txBox="1"/>
          <p:nvPr/>
        </p:nvSpPr>
        <p:spPr>
          <a:xfrm>
            <a:off x="777240" y="1554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20%</a:t>
            </a:r>
            <a:endParaRPr lang="en-US" sz="3400" dirty="0"/>
          </a:p>
        </p:txBody>
      </p:sp>
      <p:sp>
        <p:nvSpPr>
          <p:cNvPr id="5" name="txt171"/>
          <p:cNvSpPr txBox="1"/>
          <p:nvPr/>
        </p:nvSpPr>
        <p:spPr>
          <a:xfrm>
            <a:off x="77724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연구수당</a:t>
            </a:r>
            <a:endParaRPr lang="en-US" sz="1450" dirty="0"/>
          </a:p>
        </p:txBody>
      </p:sp>
      <p:sp>
        <p:nvSpPr>
          <p:cNvPr id="6" name="txt172"/>
          <p:cNvSpPr txBox="1"/>
          <p:nvPr/>
        </p:nvSpPr>
        <p:spPr>
          <a:xfrm>
            <a:off x="777240" y="2743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수정인건비 대비 상한. 집행비율 차이도 20%p 이내</a:t>
            </a:r>
            <a:endParaRPr lang="en-US" sz="1300" dirty="0"/>
          </a:p>
        </p:txBody>
      </p:sp>
      <p:sp>
        <p:nvSpPr>
          <p:cNvPr id="7" name="card173"/>
          <p:cNvSpPr/>
          <p:nvPr/>
        </p:nvSpPr>
        <p:spPr>
          <a:xfrm>
            <a:off x="3337560" y="137160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8" name="txt174"/>
          <p:cNvSpPr txBox="1"/>
          <p:nvPr/>
        </p:nvSpPr>
        <p:spPr>
          <a:xfrm>
            <a:off x="3566160" y="1554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70%</a:t>
            </a:r>
            <a:endParaRPr lang="en-US" sz="3400" dirty="0"/>
          </a:p>
        </p:txBody>
      </p:sp>
      <p:sp>
        <p:nvSpPr>
          <p:cNvPr id="9" name="txt175"/>
          <p:cNvSpPr txBox="1"/>
          <p:nvPr/>
        </p:nvSpPr>
        <p:spPr>
          <a:xfrm>
            <a:off x="356616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연구수당 1인 상한</a:t>
            </a:r>
            <a:endParaRPr lang="en-US" sz="1450" dirty="0"/>
          </a:p>
        </p:txBody>
      </p:sp>
      <p:sp>
        <p:nvSpPr>
          <p:cNvPr id="10" name="txt176"/>
          <p:cNvSpPr txBox="1"/>
          <p:nvPr/>
        </p:nvSpPr>
        <p:spPr>
          <a:xfrm>
            <a:off x="3566160" y="2743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참여연구자 2인 이상일 때 계상액 대비</a:t>
            </a:r>
            <a:endParaRPr lang="en-US" sz="1300" dirty="0"/>
          </a:p>
        </p:txBody>
      </p:sp>
      <p:sp>
        <p:nvSpPr>
          <p:cNvPr id="11" name="card177"/>
          <p:cNvSpPr/>
          <p:nvPr/>
        </p:nvSpPr>
        <p:spPr>
          <a:xfrm>
            <a:off x="6126480" y="137160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2" name="txt178"/>
          <p:cNvSpPr txBox="1"/>
          <p:nvPr/>
        </p:nvSpPr>
        <p:spPr>
          <a:xfrm>
            <a:off x="6355080" y="1554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40%</a:t>
            </a:r>
            <a:endParaRPr lang="en-US" sz="3400" dirty="0"/>
          </a:p>
        </p:txBody>
      </p:sp>
      <p:sp>
        <p:nvSpPr>
          <p:cNvPr id="13" name="txt179"/>
          <p:cNvSpPr txBox="1"/>
          <p:nvPr/>
        </p:nvSpPr>
        <p:spPr>
          <a:xfrm>
            <a:off x="635508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외부전문기술활용비</a:t>
            </a:r>
            <a:endParaRPr lang="en-US" sz="1450" dirty="0"/>
          </a:p>
        </p:txBody>
      </p:sp>
      <p:sp>
        <p:nvSpPr>
          <p:cNvPr id="14" name="txt180"/>
          <p:cNvSpPr txBox="1"/>
          <p:nvPr/>
        </p:nvSpPr>
        <p:spPr>
          <a:xfrm>
            <a:off x="6355080" y="2743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직접비 대비. 참여연구자에게 자문료 불가</a:t>
            </a:r>
            <a:endParaRPr lang="en-US" sz="1300" dirty="0"/>
          </a:p>
        </p:txBody>
      </p:sp>
      <p:sp>
        <p:nvSpPr>
          <p:cNvPr id="15" name="card181"/>
          <p:cNvSpPr/>
          <p:nvPr/>
        </p:nvSpPr>
        <p:spPr>
          <a:xfrm>
            <a:off x="8915400" y="137160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6" name="txt182"/>
          <p:cNvSpPr txBox="1"/>
          <p:nvPr/>
        </p:nvSpPr>
        <p:spPr>
          <a:xfrm>
            <a:off x="9144000" y="1554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3천만원</a:t>
            </a:r>
            <a:endParaRPr lang="en-US" sz="3400" dirty="0"/>
          </a:p>
        </p:txBody>
      </p:sp>
      <p:sp>
        <p:nvSpPr>
          <p:cNvPr id="17" name="txt183"/>
          <p:cNvSpPr txBox="1"/>
          <p:nvPr/>
        </p:nvSpPr>
        <p:spPr>
          <a:xfrm>
            <a:off x="914400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장비 사전심의</a:t>
            </a:r>
            <a:endParaRPr lang="en-US" sz="1450" dirty="0"/>
          </a:p>
        </p:txBody>
      </p:sp>
      <p:sp>
        <p:nvSpPr>
          <p:cNvPr id="18" name="txt184"/>
          <p:cNvSpPr txBox="1"/>
          <p:nvPr/>
        </p:nvSpPr>
        <p:spPr>
          <a:xfrm>
            <a:off x="9144000" y="2743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1억원 미만 평가단, 1억원 이상 NFEC</a:t>
            </a:r>
            <a:endParaRPr lang="en-US" sz="1300" dirty="0"/>
          </a:p>
        </p:txBody>
      </p:sp>
      <p:sp>
        <p:nvSpPr>
          <p:cNvPr id="19" name="card185"/>
          <p:cNvSpPr/>
          <p:nvPr/>
        </p:nvSpPr>
        <p:spPr>
          <a:xfrm>
            <a:off x="548640" y="374904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0" name="txt186"/>
          <p:cNvSpPr txBox="1"/>
          <p:nvPr/>
        </p:nvSpPr>
        <p:spPr>
          <a:xfrm>
            <a:off x="777240" y="3931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2개월</a:t>
            </a:r>
            <a:endParaRPr lang="en-US" sz="3400" dirty="0"/>
          </a:p>
        </p:txBody>
      </p:sp>
      <p:sp>
        <p:nvSpPr>
          <p:cNvPr id="21" name="txt187"/>
          <p:cNvSpPr txBox="1"/>
          <p:nvPr/>
        </p:nvSpPr>
        <p:spPr>
          <a:xfrm>
            <a:off x="777240" y="4709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장비·SW 도입기한</a:t>
            </a:r>
            <a:endParaRPr lang="en-US" sz="1450" dirty="0"/>
          </a:p>
        </p:txBody>
      </p:sp>
      <p:sp>
        <p:nvSpPr>
          <p:cNvPr id="22" name="txt188"/>
          <p:cNvSpPr txBox="1"/>
          <p:nvPr/>
        </p:nvSpPr>
        <p:spPr>
          <a:xfrm>
            <a:off x="777240" y="5120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단계 종료 2개월 전까지 검수 완료</a:t>
            </a:r>
            <a:endParaRPr lang="en-US" sz="1300" dirty="0"/>
          </a:p>
        </p:txBody>
      </p:sp>
      <p:sp>
        <p:nvSpPr>
          <p:cNvPr id="23" name="card189"/>
          <p:cNvSpPr/>
          <p:nvPr/>
        </p:nvSpPr>
        <p:spPr>
          <a:xfrm>
            <a:off x="3337560" y="374904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txt190"/>
          <p:cNvSpPr txBox="1"/>
          <p:nvPr/>
        </p:nvSpPr>
        <p:spPr>
          <a:xfrm>
            <a:off x="3566160" y="3931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30일</a:t>
            </a:r>
            <a:endParaRPr lang="en-US" sz="3400" dirty="0"/>
          </a:p>
        </p:txBody>
      </p:sp>
      <p:sp>
        <p:nvSpPr>
          <p:cNvPr id="25" name="txt191"/>
          <p:cNvSpPr txBox="1"/>
          <p:nvPr/>
        </p:nvSpPr>
        <p:spPr>
          <a:xfrm>
            <a:off x="3566160" y="4709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ZEUS 등록</a:t>
            </a:r>
            <a:endParaRPr lang="en-US" sz="1450" dirty="0"/>
          </a:p>
        </p:txBody>
      </p:sp>
      <p:sp>
        <p:nvSpPr>
          <p:cNvPr id="26" name="txt192"/>
          <p:cNvSpPr txBox="1"/>
          <p:nvPr/>
        </p:nvSpPr>
        <p:spPr>
          <a:xfrm>
            <a:off x="3566160" y="5120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자산등록 후 30일 이내</a:t>
            </a:r>
            <a:endParaRPr lang="en-US" sz="1300" dirty="0"/>
          </a:p>
        </p:txBody>
      </p:sp>
      <p:sp>
        <p:nvSpPr>
          <p:cNvPr id="27" name="card193"/>
          <p:cNvSpPr/>
          <p:nvPr/>
        </p:nvSpPr>
        <p:spPr>
          <a:xfrm>
            <a:off x="6126480" y="374904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8" name="txt194"/>
          <p:cNvSpPr txBox="1"/>
          <p:nvPr/>
        </p:nvSpPr>
        <p:spPr>
          <a:xfrm>
            <a:off x="6355080" y="3931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100만원</a:t>
            </a:r>
            <a:endParaRPr lang="en-US" sz="3400" dirty="0"/>
          </a:p>
        </p:txBody>
      </p:sp>
      <p:sp>
        <p:nvSpPr>
          <p:cNvPr id="29" name="txt195"/>
          <p:cNvSpPr txBox="1"/>
          <p:nvPr/>
        </p:nvSpPr>
        <p:spPr>
          <a:xfrm>
            <a:off x="6355080" y="4709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재료 검수 간소화</a:t>
            </a:r>
            <a:endParaRPr lang="en-US" sz="1450" dirty="0"/>
          </a:p>
        </p:txBody>
      </p:sp>
      <p:sp>
        <p:nvSpPr>
          <p:cNvPr id="30" name="txt196"/>
          <p:cNvSpPr txBox="1"/>
          <p:nvPr/>
        </p:nvSpPr>
        <p:spPr>
          <a:xfrm>
            <a:off x="6355080" y="5120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건당 이하, 연차별 1,000만원 이내</a:t>
            </a:r>
            <a:endParaRPr lang="en-US" sz="1300" dirty="0"/>
          </a:p>
        </p:txBody>
      </p:sp>
      <p:sp>
        <p:nvSpPr>
          <p:cNvPr id="31" name="card197"/>
          <p:cNvSpPr/>
          <p:nvPr/>
        </p:nvSpPr>
        <p:spPr>
          <a:xfrm>
            <a:off x="8915400" y="3749040"/>
            <a:ext cx="26060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32" name="txt198"/>
          <p:cNvSpPr txBox="1"/>
          <p:nvPr/>
        </p:nvSpPr>
        <p:spPr>
          <a:xfrm>
            <a:off x="9144000" y="3931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5일</a:t>
            </a:r>
            <a:endParaRPr lang="en-US" sz="3400" dirty="0"/>
          </a:p>
        </p:txBody>
      </p:sp>
      <p:sp>
        <p:nvSpPr>
          <p:cNvPr id="33" name="txt199"/>
          <p:cNvSpPr txBox="1"/>
          <p:nvPr/>
        </p:nvSpPr>
        <p:spPr>
          <a:xfrm>
            <a:off x="9144000" y="4709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chemeClr val="tx2"/>
                </a:solidFill>
              </a:rPr>
              <a:t>시스템 입력</a:t>
            </a:r>
            <a:endParaRPr lang="en-US" sz="1450" dirty="0"/>
          </a:p>
        </p:txBody>
      </p:sp>
      <p:sp>
        <p:nvSpPr>
          <p:cNvPr id="34" name="txt200"/>
          <p:cNvSpPr txBox="1"/>
          <p:nvPr/>
        </p:nvSpPr>
        <p:spPr>
          <a:xfrm>
            <a:off x="9144000" y="5120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카드대금 이체일·사용일부터</a:t>
            </a:r>
            <a:endParaRPr lang="en-US" sz="1300" dirty="0"/>
          </a:p>
        </p:txBody>
      </p:sp>
      <p:sp>
        <p:nvSpPr>
          <p:cNvPr id="35" name="txt201"/>
          <p:cNvSpPr txBox="1"/>
          <p:nvPr/>
        </p:nvSpPr>
        <p:spPr>
          <a:xfrm>
            <a:off x="8869680" y="6053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p.163, 187, 193~201, 207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2026년 달라진 것 — 시행일 순</a:t>
            </a:r>
            <a:endParaRPr lang="en-US" sz="2800" dirty="0"/>
          </a:p>
        </p:txBody>
      </p:sp>
      <p:sp>
        <p:nvSpPr>
          <p:cNvPr id="3" name="timeline"/>
          <p:cNvSpPr/>
          <p:nvPr/>
        </p:nvSpPr>
        <p:spPr>
          <a:xfrm>
            <a:off x="822960" y="2148840"/>
            <a:ext cx="10515600" cy="0"/>
          </a:xfrm>
          <a:prstGeom prst="line">
            <a:avLst/>
          </a:prstGeom>
          <a:noFill/>
          <a:ln w="38100">
            <a:solidFill>
              <a:srgbClr val="4FAE83"/>
            </a:solidFill>
            <a:prstDash val="solid"/>
          </a:ln>
        </p:spPr>
      </p:sp>
      <p:sp>
        <p:nvSpPr>
          <p:cNvPr id="4" name="dot203"/>
          <p:cNvSpPr/>
          <p:nvPr/>
        </p:nvSpPr>
        <p:spPr>
          <a:xfrm>
            <a:off x="685800" y="1984248"/>
            <a:ext cx="329184" cy="32918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txt204"/>
          <p:cNvSpPr txBox="1"/>
          <p:nvPr/>
        </p:nvSpPr>
        <p:spPr>
          <a:xfrm>
            <a:off x="548640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1.22.</a:t>
            </a:r>
            <a:endParaRPr lang="en-US" sz="2000" dirty="0"/>
          </a:p>
        </p:txBody>
      </p:sp>
      <p:sp>
        <p:nvSpPr>
          <p:cNvPr id="6" name="card205"/>
          <p:cNvSpPr/>
          <p:nvPr/>
        </p:nvSpPr>
        <p:spPr>
          <a:xfrm>
            <a:off x="548640" y="2606040"/>
            <a:ext cx="2057400" cy="301752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7" name="txt206"/>
          <p:cNvSpPr txBox="1"/>
          <p:nvPr/>
        </p:nvSpPr>
        <p:spPr>
          <a:xfrm>
            <a:off x="731520" y="2743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재료 검수 간소화</a:t>
            </a:r>
            <a:endParaRPr lang="en-US" sz="1500" dirty="0"/>
          </a:p>
        </p:txBody>
      </p:sp>
      <p:sp>
        <p:nvSpPr>
          <p:cNvPr id="8" name="txt207"/>
          <p:cNvSpPr txBox="1"/>
          <p:nvPr/>
        </p:nvSpPr>
        <p:spPr>
          <a:xfrm>
            <a:off x="731520" y="3474720"/>
            <a:ext cx="1737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대학 등 100만원 이하(연 1,000만원) 자체규정으로 증빙 간소화 · 장비비 과제별 안분</a:t>
            </a:r>
            <a:endParaRPr lang="en-US" sz="1450" dirty="0"/>
          </a:p>
        </p:txBody>
      </p:sp>
      <p:sp>
        <p:nvSpPr>
          <p:cNvPr id="9" name="dot208"/>
          <p:cNvSpPr/>
          <p:nvPr/>
        </p:nvSpPr>
        <p:spPr>
          <a:xfrm>
            <a:off x="2953512" y="1984248"/>
            <a:ext cx="329184" cy="32918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0" name="txt209"/>
          <p:cNvSpPr txBox="1"/>
          <p:nvPr/>
        </p:nvSpPr>
        <p:spPr>
          <a:xfrm>
            <a:off x="2816352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3.10.</a:t>
            </a:r>
            <a:endParaRPr lang="en-US" sz="2000" dirty="0"/>
          </a:p>
        </p:txBody>
      </p:sp>
      <p:sp>
        <p:nvSpPr>
          <p:cNvPr id="11" name="card210"/>
          <p:cNvSpPr/>
          <p:nvPr/>
        </p:nvSpPr>
        <p:spPr>
          <a:xfrm>
            <a:off x="2816352" y="2606040"/>
            <a:ext cx="2057400" cy="301752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2" name="txt211"/>
          <p:cNvSpPr txBox="1"/>
          <p:nvPr/>
        </p:nvSpPr>
        <p:spPr>
          <a:xfrm>
            <a:off x="2999232" y="2743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이자 국고납입</a:t>
            </a:r>
            <a:endParaRPr lang="en-US" sz="1500" dirty="0"/>
          </a:p>
        </p:txBody>
      </p:sp>
      <p:sp>
        <p:nvSpPr>
          <p:cNvPr id="13" name="txt212"/>
          <p:cNvSpPr txBox="1"/>
          <p:nvPr/>
        </p:nvSpPr>
        <p:spPr>
          <a:xfrm>
            <a:off x="2999232" y="3474720"/>
            <a:ext cx="1737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정부지원연구개발비 이자는 국고납입 원칙, 다른 용도는 승인 · 소액과제 샘플정산</a:t>
            </a:r>
            <a:endParaRPr lang="en-US" sz="1450" dirty="0"/>
          </a:p>
        </p:txBody>
      </p:sp>
      <p:sp>
        <p:nvSpPr>
          <p:cNvPr id="14" name="dot213"/>
          <p:cNvSpPr/>
          <p:nvPr/>
        </p:nvSpPr>
        <p:spPr>
          <a:xfrm>
            <a:off x="5221224" y="1984248"/>
            <a:ext cx="329184" cy="32918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5" name="txt214"/>
          <p:cNvSpPr txBox="1"/>
          <p:nvPr/>
        </p:nvSpPr>
        <p:spPr>
          <a:xfrm>
            <a:off x="5084064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4.28.</a:t>
            </a:r>
            <a:endParaRPr lang="en-US" sz="2000" dirty="0"/>
          </a:p>
        </p:txBody>
      </p:sp>
      <p:sp>
        <p:nvSpPr>
          <p:cNvPr id="16" name="card215"/>
          <p:cNvSpPr/>
          <p:nvPr/>
        </p:nvSpPr>
        <p:spPr>
          <a:xfrm>
            <a:off x="5084064" y="2606040"/>
            <a:ext cx="2057400" cy="301752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7" name="txt216"/>
          <p:cNvSpPr txBox="1"/>
          <p:nvPr/>
        </p:nvSpPr>
        <p:spPr>
          <a:xfrm>
            <a:off x="5266944" y="2743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SW 계약기간 완화</a:t>
            </a:r>
            <a:endParaRPr lang="en-US" sz="1500" dirty="0"/>
          </a:p>
        </p:txBody>
      </p:sp>
      <p:sp>
        <p:nvSpPr>
          <p:cNvPr id="18" name="txt217"/>
          <p:cNvSpPr txBox="1"/>
          <p:nvPr/>
        </p:nvSpPr>
        <p:spPr>
          <a:xfrm>
            <a:off x="5266944" y="3474720"/>
            <a:ext cx="1737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최소 계약단위가 연구기간을 넘어도 경제성 입증 시 가능</a:t>
            </a:r>
            <a:endParaRPr lang="en-US" sz="1450" dirty="0"/>
          </a:p>
        </p:txBody>
      </p:sp>
      <p:sp>
        <p:nvSpPr>
          <p:cNvPr id="19" name="dot218"/>
          <p:cNvSpPr/>
          <p:nvPr/>
        </p:nvSpPr>
        <p:spPr>
          <a:xfrm>
            <a:off x="7488936" y="1984248"/>
            <a:ext cx="329184" cy="32918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0" name="txt219"/>
          <p:cNvSpPr txBox="1"/>
          <p:nvPr/>
        </p:nvSpPr>
        <p:spPr>
          <a:xfrm>
            <a:off x="7351776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5.6.</a:t>
            </a:r>
            <a:endParaRPr lang="en-US" sz="2000" dirty="0"/>
          </a:p>
        </p:txBody>
      </p:sp>
      <p:sp>
        <p:nvSpPr>
          <p:cNvPr id="21" name="card220"/>
          <p:cNvSpPr/>
          <p:nvPr/>
        </p:nvSpPr>
        <p:spPr>
          <a:xfrm>
            <a:off x="7351776" y="2606040"/>
            <a:ext cx="2057400" cy="301752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2" name="txt221"/>
          <p:cNvSpPr txBox="1"/>
          <p:nvPr/>
        </p:nvSpPr>
        <p:spPr>
          <a:xfrm>
            <a:off x="7534656" y="2743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회의비 변경</a:t>
            </a:r>
            <a:endParaRPr lang="en-US" sz="1500" dirty="0"/>
          </a:p>
        </p:txBody>
      </p:sp>
      <p:sp>
        <p:nvSpPr>
          <p:cNvPr id="23" name="txt222"/>
          <p:cNvSpPr txBox="1"/>
          <p:nvPr/>
        </p:nvSpPr>
        <p:spPr>
          <a:xfrm>
            <a:off x="7534656" y="3474720"/>
            <a:ext cx="1737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사전 내부결재 폐지, 참여연구자만 참여한 회의는 식비 불가</a:t>
            </a:r>
            <a:endParaRPr lang="en-US" sz="1450" dirty="0"/>
          </a:p>
        </p:txBody>
      </p:sp>
      <p:sp>
        <p:nvSpPr>
          <p:cNvPr id="24" name="dot223"/>
          <p:cNvSpPr/>
          <p:nvPr/>
        </p:nvSpPr>
        <p:spPr>
          <a:xfrm>
            <a:off x="9756648" y="1984248"/>
            <a:ext cx="329184" cy="32918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5" name="txt224"/>
          <p:cNvSpPr txBox="1"/>
          <p:nvPr/>
        </p:nvSpPr>
        <p:spPr>
          <a:xfrm>
            <a:off x="9619488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하반기</a:t>
            </a:r>
            <a:endParaRPr lang="en-US" sz="2000" dirty="0"/>
          </a:p>
        </p:txBody>
      </p:sp>
      <p:sp>
        <p:nvSpPr>
          <p:cNvPr id="26" name="card225"/>
          <p:cNvSpPr/>
          <p:nvPr/>
        </p:nvSpPr>
        <p:spPr>
          <a:xfrm>
            <a:off x="9619488" y="2606040"/>
            <a:ext cx="2057400" cy="301752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7" name="txt226"/>
          <p:cNvSpPr txBox="1"/>
          <p:nvPr/>
        </p:nvSpPr>
        <p:spPr>
          <a:xfrm>
            <a:off x="9802368" y="27432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연구혁신비 신설</a:t>
            </a:r>
            <a:endParaRPr lang="en-US" sz="1500" dirty="0"/>
          </a:p>
        </p:txBody>
      </p:sp>
      <p:sp>
        <p:nvSpPr>
          <p:cNvPr id="28" name="txt227"/>
          <p:cNvSpPr txBox="1"/>
          <p:nvPr/>
        </p:nvSpPr>
        <p:spPr>
          <a:xfrm>
            <a:off x="9802368" y="3474720"/>
            <a:ext cx="1737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재료비+활동비의 10% 이내, 2027 본격 시행(비영리기관)</a:t>
            </a:r>
            <a:endParaRPr lang="en-US" sz="1450" dirty="0"/>
          </a:p>
        </p:txBody>
      </p:sp>
      <p:sp>
        <p:nvSpPr>
          <p:cNvPr id="29" name="txt228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간접비 네거티브 규제(비영리기관): 자료집 p.219는 2026.5.6., p.223은 2025.5.6.로 표기 — 원문 확인 필요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정산은 세 갈래 — 공동정산·상세정산·상시점검</a:t>
            </a:r>
            <a:endParaRPr lang="en-US" sz="2800" dirty="0"/>
          </a:p>
        </p:txBody>
      </p:sp>
      <p:sp>
        <p:nvSpPr>
          <p:cNvPr id="3" name="card229"/>
          <p:cNvSpPr/>
          <p:nvPr/>
        </p:nvSpPr>
        <p:spPr>
          <a:xfrm>
            <a:off x="548640" y="1371600"/>
            <a:ext cx="3520440" cy="2331720"/>
          </a:xfrm>
          <a:prstGeom prst="roundRect">
            <a:avLst>
              <a:gd name="adj" fmla="val 4706"/>
            </a:avLst>
          </a:prstGeom>
          <a:solidFill>
            <a:schemeClr val="accent1"/>
          </a:solidFill>
          <a:ln/>
        </p:spPr>
      </p:sp>
      <p:sp>
        <p:nvSpPr>
          <p:cNvPr id="4" name="txt230"/>
          <p:cNvSpPr txBox="1"/>
          <p:nvPr/>
        </p:nvSpPr>
        <p:spPr>
          <a:xfrm>
            <a:off x="82296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공동정산</a:t>
            </a:r>
            <a:endParaRPr lang="en-US" sz="2000" dirty="0"/>
          </a:p>
        </p:txBody>
      </p:sp>
      <p:sp>
        <p:nvSpPr>
          <p:cNvPr id="5" name="txt231"/>
          <p:cNvSpPr txBox="1"/>
          <p:nvPr/>
        </p:nvSpPr>
        <p:spPr>
          <a:xfrm>
            <a:off x="822960" y="210312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7EBDF"/>
                </a:solidFill>
              </a:rPr>
              <a:t>대상: 종료 모든 과제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7EBDF"/>
                </a:solidFill>
              </a:rPr>
              <a:t>방법: 사용실적보고서 + 이지체크 15개 항목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D7EBDF"/>
                </a:solidFill>
              </a:rPr>
              <a:t>시기: 종료 후 3개월 내 제출</a:t>
            </a:r>
            <a:endParaRPr lang="en-US" sz="1400" dirty="0"/>
          </a:p>
        </p:txBody>
      </p:sp>
      <p:sp>
        <p:nvSpPr>
          <p:cNvPr id="6" name="card232"/>
          <p:cNvSpPr/>
          <p:nvPr/>
        </p:nvSpPr>
        <p:spPr>
          <a:xfrm>
            <a:off x="4297680" y="1371600"/>
            <a:ext cx="35204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7" name="txt233"/>
          <p:cNvSpPr txBox="1"/>
          <p:nvPr/>
        </p:nvSpPr>
        <p:spPr>
          <a:xfrm>
            <a:off x="457200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상세정산</a:t>
            </a:r>
            <a:endParaRPr lang="en-US" sz="2000" dirty="0"/>
          </a:p>
        </p:txBody>
      </p:sp>
      <p:sp>
        <p:nvSpPr>
          <p:cNvPr id="8" name="txt234"/>
          <p:cNvSpPr txBox="1"/>
          <p:nvPr/>
        </p:nvSpPr>
        <p:spPr>
          <a:xfrm>
            <a:off x="4572000" y="210312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대상: 자체정산역량 미보유 기관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방법: 증명자료까지 정밀 검증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시기: 연 1회 내외</a:t>
            </a:r>
            <a:endParaRPr lang="en-US" sz="1400" dirty="0"/>
          </a:p>
        </p:txBody>
      </p:sp>
      <p:sp>
        <p:nvSpPr>
          <p:cNvPr id="9" name="card235"/>
          <p:cNvSpPr/>
          <p:nvPr/>
        </p:nvSpPr>
        <p:spPr>
          <a:xfrm>
            <a:off x="8046720" y="1371600"/>
            <a:ext cx="35204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txt236"/>
          <p:cNvSpPr txBox="1"/>
          <p:nvPr/>
        </p:nvSpPr>
        <p:spPr>
          <a:xfrm>
            <a:off x="832104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상시점검</a:t>
            </a:r>
            <a:endParaRPr lang="en-US" sz="2000" dirty="0"/>
          </a:p>
        </p:txBody>
      </p:sp>
      <p:sp>
        <p:nvSpPr>
          <p:cNvPr id="11" name="txt237"/>
          <p:cNvSpPr txBox="1"/>
          <p:nvPr/>
        </p:nvSpPr>
        <p:spPr>
          <a:xfrm>
            <a:off x="8321040" y="2103120"/>
            <a:ext cx="3017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대상: 진행 중 모든 과제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방법: 사용내역 데이터 분석, 사전 예방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시기: 상·하반기</a:t>
            </a:r>
            <a:endParaRPr lang="en-US" sz="1400" dirty="0"/>
          </a:p>
        </p:txBody>
      </p:sp>
      <p:sp>
        <p:nvSpPr>
          <p:cNvPr id="12" name="step238"/>
          <p:cNvSpPr/>
          <p:nvPr/>
        </p:nvSpPr>
        <p:spPr>
          <a:xfrm>
            <a:off x="548640" y="411480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F5B3B"/>
            </a:solidFill>
            <a:prstDash val="solid"/>
          </a:ln>
        </p:spPr>
      </p:sp>
      <p:sp>
        <p:nvSpPr>
          <p:cNvPr id="13" name="txt239"/>
          <p:cNvSpPr txBox="1"/>
          <p:nvPr/>
        </p:nvSpPr>
        <p:spPr>
          <a:xfrm>
            <a:off x="658368" y="416052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1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집행데이터 추출</a:t>
            </a:r>
            <a:endParaRPr lang="en-US" sz="1400" dirty="0"/>
          </a:p>
        </p:txBody>
      </p:sp>
      <p:sp>
        <p:nvSpPr>
          <p:cNvPr id="14" name="txt240"/>
          <p:cNvSpPr txBox="1"/>
          <p:nvPr/>
        </p:nvSpPr>
        <p:spPr>
          <a:xfrm>
            <a:off x="2194560" y="42519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15" name="step241"/>
          <p:cNvSpPr/>
          <p:nvPr/>
        </p:nvSpPr>
        <p:spPr>
          <a:xfrm>
            <a:off x="2423160" y="411480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F5B3B"/>
            </a:solidFill>
            <a:prstDash val="solid"/>
          </a:ln>
        </p:spPr>
      </p:sp>
      <p:sp>
        <p:nvSpPr>
          <p:cNvPr id="16" name="txt242"/>
          <p:cNvSpPr txBox="1"/>
          <p:nvPr/>
        </p:nvSpPr>
        <p:spPr>
          <a:xfrm>
            <a:off x="2532888" y="416052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2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대상 추출</a:t>
            </a:r>
            <a:endParaRPr lang="en-US" sz="1400" dirty="0"/>
          </a:p>
        </p:txBody>
      </p:sp>
      <p:sp>
        <p:nvSpPr>
          <p:cNvPr id="17" name="txt243"/>
          <p:cNvSpPr txBox="1"/>
          <p:nvPr/>
        </p:nvSpPr>
        <p:spPr>
          <a:xfrm>
            <a:off x="4069080" y="42519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18" name="step244"/>
          <p:cNvSpPr/>
          <p:nvPr/>
        </p:nvSpPr>
        <p:spPr>
          <a:xfrm>
            <a:off x="4297680" y="411480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F5B3B"/>
            </a:solidFill>
            <a:prstDash val="solid"/>
          </a:ln>
        </p:spPr>
      </p:sp>
      <p:sp>
        <p:nvSpPr>
          <p:cNvPr id="19" name="txt245"/>
          <p:cNvSpPr txBox="1"/>
          <p:nvPr/>
        </p:nvSpPr>
        <p:spPr>
          <a:xfrm>
            <a:off x="4407408" y="416052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3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증빙 제출</a:t>
            </a:r>
            <a:endParaRPr lang="en-US" sz="1400" dirty="0"/>
          </a:p>
        </p:txBody>
      </p:sp>
      <p:sp>
        <p:nvSpPr>
          <p:cNvPr id="20" name="txt246"/>
          <p:cNvSpPr txBox="1"/>
          <p:nvPr/>
        </p:nvSpPr>
        <p:spPr>
          <a:xfrm>
            <a:off x="5943600" y="42519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21" name="step247"/>
          <p:cNvSpPr/>
          <p:nvPr/>
        </p:nvSpPr>
        <p:spPr>
          <a:xfrm>
            <a:off x="6172200" y="411480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F5B3B"/>
            </a:solidFill>
            <a:prstDash val="solid"/>
          </a:ln>
        </p:spPr>
      </p:sp>
      <p:sp>
        <p:nvSpPr>
          <p:cNvPr id="22" name="txt248"/>
          <p:cNvSpPr txBox="1"/>
          <p:nvPr/>
        </p:nvSpPr>
        <p:spPr>
          <a:xfrm>
            <a:off x="6281928" y="416052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4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보완 요청</a:t>
            </a:r>
            <a:endParaRPr lang="en-US" sz="1400" dirty="0"/>
          </a:p>
        </p:txBody>
      </p:sp>
      <p:sp>
        <p:nvSpPr>
          <p:cNvPr id="23" name="txt249"/>
          <p:cNvSpPr txBox="1"/>
          <p:nvPr/>
        </p:nvSpPr>
        <p:spPr>
          <a:xfrm>
            <a:off x="7818120" y="42519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24" name="step250"/>
          <p:cNvSpPr/>
          <p:nvPr/>
        </p:nvSpPr>
        <p:spPr>
          <a:xfrm>
            <a:off x="8046720" y="411480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F5B3B"/>
            </a:solidFill>
            <a:prstDash val="solid"/>
          </a:ln>
        </p:spPr>
      </p:sp>
      <p:sp>
        <p:nvSpPr>
          <p:cNvPr id="25" name="txt251"/>
          <p:cNvSpPr txBox="1"/>
          <p:nvPr/>
        </p:nvSpPr>
        <p:spPr>
          <a:xfrm>
            <a:off x="8156448" y="416052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5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결과 확정</a:t>
            </a:r>
            <a:endParaRPr lang="en-US" sz="1400" dirty="0"/>
          </a:p>
        </p:txBody>
      </p:sp>
      <p:sp>
        <p:nvSpPr>
          <p:cNvPr id="26" name="txt252"/>
          <p:cNvSpPr txBox="1"/>
          <p:nvPr/>
        </p:nvSpPr>
        <p:spPr>
          <a:xfrm>
            <a:off x="9692640" y="425196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›</a:t>
            </a:r>
            <a:endParaRPr lang="en-US" sz="2200" dirty="0"/>
          </a:p>
        </p:txBody>
      </p:sp>
      <p:sp>
        <p:nvSpPr>
          <p:cNvPr id="27" name="step253"/>
          <p:cNvSpPr/>
          <p:nvPr/>
        </p:nvSpPr>
        <p:spPr>
          <a:xfrm>
            <a:off x="9921240" y="411480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B8912F"/>
          </a:solidFill>
          <a:ln w="15875">
            <a:solidFill>
              <a:srgbClr val="0F5B3B"/>
            </a:solidFill>
            <a:prstDash val="solid"/>
          </a:ln>
        </p:spPr>
      </p:sp>
      <p:sp>
        <p:nvSpPr>
          <p:cNvPr id="28" name="txt254"/>
          <p:cNvSpPr txBox="1"/>
          <p:nvPr/>
        </p:nvSpPr>
        <p:spPr>
          <a:xfrm>
            <a:off x="10030968" y="416052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반납 또는 이의신청</a:t>
            </a:r>
            <a:endParaRPr lang="en-US" sz="1400" dirty="0"/>
          </a:p>
        </p:txBody>
      </p:sp>
      <p:sp>
        <p:nvSpPr>
          <p:cNvPr id="29" name="txt255"/>
          <p:cNvSpPr txBox="1"/>
          <p:nvPr/>
        </p:nvSpPr>
        <p:spPr>
          <a:xfrm>
            <a:off x="548640" y="5303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상세정산 절차 — 이의신청은 결과 통보 후 1개월 내 1회 (사용기준 제84조 · p.226~230)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정산·점검에서 자주 걸리는 항목</a:t>
            </a:r>
            <a:endParaRPr lang="en-US" sz="2800" dirty="0"/>
          </a:p>
        </p:txBody>
      </p:sp>
      <p:sp>
        <p:nvSpPr>
          <p:cNvPr id="3" name="card256"/>
          <p:cNvSpPr/>
          <p:nvPr/>
        </p:nvSpPr>
        <p:spPr>
          <a:xfrm>
            <a:off x="548640" y="1371600"/>
            <a:ext cx="544068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4" name="iconCircle257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25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777594"/>
            <a:ext cx="285293" cy="285293"/>
          </a:xfrm>
          <a:prstGeom prst="rect">
            <a:avLst/>
          </a:prstGeom>
        </p:spPr>
      </p:pic>
      <p:sp>
        <p:nvSpPr>
          <p:cNvPr id="6" name="txt258"/>
          <p:cNvSpPr txBox="1"/>
          <p:nvPr/>
        </p:nvSpPr>
        <p:spPr>
          <a:xfrm>
            <a:off x="150876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공동정산 이지체크</a:t>
            </a:r>
            <a:endParaRPr lang="en-US" sz="1900" dirty="0"/>
          </a:p>
        </p:txBody>
      </p:sp>
      <p:sp>
        <p:nvSpPr>
          <p:cNvPr id="7" name="txt259"/>
          <p:cNvSpPr txBox="1"/>
          <p:nvPr/>
        </p:nvSpPr>
        <p:spPr>
          <a:xfrm>
            <a:off x="4754880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p.228</a:t>
            </a:r>
            <a:endParaRPr lang="en-US" sz="1000" dirty="0"/>
          </a:p>
        </p:txBody>
      </p:sp>
      <p:sp>
        <p:nvSpPr>
          <p:cNvPr id="8" name="txt260"/>
          <p:cNvSpPr txBox="1"/>
          <p:nvPr/>
        </p:nvSpPr>
        <p:spPr>
          <a:xfrm>
            <a:off x="868680" y="256032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연구수당 단독수령·70% 초과·집행비율 20%p 초과</a:t>
            </a:r>
            <a:endParaRPr lang="en-US" sz="1700" dirty="0"/>
          </a:p>
          <a:p>
            <a:pPr marL="203200" indent="-2032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외부전문기술활용비 직접비 40% 초과</a:t>
            </a:r>
            <a:endParaRPr lang="en-US" sz="1700" dirty="0"/>
          </a:p>
          <a:p>
            <a:pPr marL="203200" indent="-2032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3천만원 이상 장비 ZEUS 미등록</a:t>
            </a:r>
            <a:endParaRPr lang="en-US" sz="1700" dirty="0"/>
          </a:p>
          <a:p>
            <a:pPr marL="203200" indent="-2032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간접비·연구수당 당초계획 대비 증액</a:t>
            </a:r>
            <a:endParaRPr lang="en-US" sz="1700" dirty="0"/>
          </a:p>
          <a:p>
            <a:pPr marL="203200" indent="-2032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연구기간 중 발생이자 미기재</a:t>
            </a:r>
            <a:endParaRPr lang="en-US" sz="1700" dirty="0"/>
          </a:p>
        </p:txBody>
      </p:sp>
      <p:sp>
        <p:nvSpPr>
          <p:cNvPr id="9" name="card261"/>
          <p:cNvSpPr/>
          <p:nvPr/>
        </p:nvSpPr>
        <p:spPr>
          <a:xfrm>
            <a:off x="6172200" y="1371600"/>
            <a:ext cx="5440680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/>
        </p:spPr>
      </p:sp>
      <p:sp>
        <p:nvSpPr>
          <p:cNvPr id="10" name="iconCircle262"/>
          <p:cNvSpPr/>
          <p:nvPr/>
        </p:nvSpPr>
        <p:spPr>
          <a:xfrm>
            <a:off x="6446520" y="16459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icon26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194" y="1777594"/>
            <a:ext cx="285293" cy="285293"/>
          </a:xfrm>
          <a:prstGeom prst="rect">
            <a:avLst/>
          </a:prstGeom>
        </p:spPr>
      </p:pic>
      <p:sp>
        <p:nvSpPr>
          <p:cNvPr id="12" name="txt263"/>
          <p:cNvSpPr txBox="1"/>
          <p:nvPr/>
        </p:nvSpPr>
        <p:spPr>
          <a:xfrm>
            <a:off x="713232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상시점검</a:t>
            </a:r>
            <a:endParaRPr lang="en-US" sz="1900" dirty="0"/>
          </a:p>
        </p:txBody>
      </p:sp>
      <p:sp>
        <p:nvSpPr>
          <p:cNvPr id="13" name="txt264"/>
          <p:cNvSpPr txBox="1"/>
          <p:nvPr/>
        </p:nvSpPr>
        <p:spPr>
          <a:xfrm>
            <a:off x="10378440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p.231</a:t>
            </a:r>
            <a:endParaRPr lang="en-US" sz="1000" dirty="0"/>
          </a:p>
        </p:txBody>
      </p:sp>
      <p:sp>
        <p:nvSpPr>
          <p:cNvPr id="14" name="txt265"/>
          <p:cNvSpPr txBox="1"/>
          <p:nvPr/>
        </p:nvSpPr>
        <p:spPr>
          <a:xfrm>
            <a:off x="6492240" y="256032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고가 장비·재료 분할 결제</a:t>
            </a:r>
            <a:endParaRPr lang="en-US" sz="1700" dirty="0"/>
          </a:p>
          <a:p>
            <a:pPr marL="203200" indent="-2032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전임교원 인건비 현금 계상</a:t>
            </a:r>
            <a:endParaRPr lang="en-US" sz="1700" dirty="0"/>
          </a:p>
          <a:p>
            <a:pPr marL="203200" indent="-2032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참여연구자에게 자문료·일용직활용비</a:t>
            </a:r>
            <a:endParaRPr lang="en-US" sz="1700" dirty="0"/>
          </a:p>
          <a:p>
            <a:pPr marL="203200" indent="-2032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내부 참석자만 있는 회의 식비</a:t>
            </a:r>
            <a:endParaRPr lang="en-US" sz="1700" dirty="0"/>
          </a:p>
          <a:p>
            <a:pPr marL="203200" indent="-203200">
              <a:spcAft>
                <a:spcPts val="2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출장비 중복, 단계 시작 전 사용내역 등록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Ⅲ. 앵커사업단 적용 포인트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BFDCCB"/>
                </a:solidFill>
              </a:rPr>
              <a:t>적용 우선순위 · 건국대 규정 비교 · 산학협력연구비 내규 4차 개정</a:t>
            </a:r>
            <a:endParaRPr lang="en-US" sz="1600" dirty="0"/>
          </a:p>
        </p:txBody>
      </p:sp>
      <p:sp>
        <p:nvSpPr>
          <p:cNvPr id="4" name="iconCircle266"/>
          <p:cNvSpPr/>
          <p:nvPr/>
        </p:nvSpPr>
        <p:spPr>
          <a:xfrm>
            <a:off x="731520" y="14630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26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682496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무엇을 먼저 적용하나 — 집행 유형별 우선순위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931920"/>
                <a:gridCol w="42062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집행 유형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1순위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2순위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B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앵커 사업비 일반 (가~자)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앵커 사업비 지침(4차) · 서울 앵커 기준(3차)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[건국대] 사업단 사업비 관리 지침 → 산학협력연구비 내규(4차)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산학연공동 기술개발과제 (사)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산학연공동 매뉴얼(5차) · 서울기준 첨부6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연구개발비 사용기준 · 혁신법 매뉴얼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교원의 국가R&amp;D 과제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협약 · 연구개발비 사용기준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산학협력연구비 내규(4차)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간접비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앵커: 지침상 3% 이내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내규 제45조 배분기준은 지원기관 규정이 없을 때만 적용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ard267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/>
        </p:spPr>
      </p:sp>
      <p:sp>
        <p:nvSpPr>
          <p:cNvPr id="5" name="iconCircle268"/>
          <p:cNvSpPr/>
          <p:nvPr/>
        </p:nvSpPr>
        <p:spPr>
          <a:xfrm>
            <a:off x="731520" y="536752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26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5499202"/>
            <a:ext cx="285293" cy="285293"/>
          </a:xfrm>
          <a:prstGeom prst="rect">
            <a:avLst/>
          </a:prstGeom>
        </p:spPr>
      </p:pic>
      <p:sp>
        <p:nvSpPr>
          <p:cNvPr id="7" name="txt269"/>
          <p:cNvSpPr txBox="1"/>
          <p:nvPr/>
        </p:nvSpPr>
        <p:spPr>
          <a:xfrm>
            <a:off x="1463040" y="52578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계약·구매 절차는 모든 유형에서 구매계약업무요강(28차)·검수요강(23차) → 국가계약법령 준용 (내규 제67·68·73조)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산학협력연구비 내규 4차(2026.9.9.) — 간접비 배분이 바뀌었다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5836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ard270"/>
          <p:cNvSpPr/>
          <p:nvPr/>
        </p:nvSpPr>
        <p:spPr>
          <a:xfrm>
            <a:off x="7498080" y="1371600"/>
            <a:ext cx="4114800" cy="4572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5" name="txt271"/>
          <p:cNvSpPr txBox="1"/>
          <p:nvPr/>
        </p:nvSpPr>
        <p:spPr>
          <a:xfrm>
            <a:off x="7772400" y="16002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함께 바뀐 것</a:t>
            </a:r>
            <a:endParaRPr lang="en-US" sz="1800" dirty="0"/>
          </a:p>
        </p:txBody>
      </p:sp>
      <p:sp>
        <p:nvSpPr>
          <p:cNvPr id="6" name="txt272"/>
          <p:cNvSpPr txBox="1"/>
          <p:nvPr/>
        </p:nvSpPr>
        <p:spPr>
          <a:xfrm>
            <a:off x="7772400" y="2194560"/>
            <a:ext cx="3611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적용 하한 신설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 — 이공계 간접비 총액 300만원 이상, 기타 계열 100만원 이상</a:t>
            </a:r>
            <a:endParaRPr lang="en-US" sz="1500" dirty="0"/>
          </a:p>
          <a:p>
            <a:pPr marL="203200" indent="-2032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단서 신설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 — 지원기관 규정·지침이 있으면 그것을 따를 수 있음</a:t>
            </a:r>
            <a:endParaRPr lang="en-US" sz="1500" dirty="0"/>
          </a:p>
          <a:p>
            <a:pPr marL="203200" indent="-2032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대응자금 차감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 — 간접비의 25% → 30% (제45조④)</a:t>
            </a:r>
            <a:endParaRPr lang="en-US" sz="1500" dirty="0"/>
          </a:p>
          <a:p>
            <a:pPr marL="203200" indent="-2032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4"/>
                </a:solidFill>
              </a:rPr>
              <a:t>확인 필요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 — 제48조 표는 여전히 지정연구소 적립재원 "15%"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건국대 규정과 비교해 볼 지점</a:t>
            </a:r>
            <a:endParaRPr lang="en-US" sz="2800" dirty="0"/>
          </a:p>
        </p:txBody>
      </p:sp>
      <p:sp>
        <p:nvSpPr>
          <p:cNvPr id="3" name="card273"/>
          <p:cNvSpPr/>
          <p:nvPr/>
        </p:nvSpPr>
        <p:spPr>
          <a:xfrm>
            <a:off x="548640" y="137160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iconCircle274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27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777594"/>
            <a:ext cx="285293" cy="285293"/>
          </a:xfrm>
          <a:prstGeom prst="rect">
            <a:avLst/>
          </a:prstGeom>
        </p:spPr>
      </p:pic>
      <p:sp>
        <p:nvSpPr>
          <p:cNvPr id="6" name="txt275"/>
          <p:cNvSpPr txBox="1"/>
          <p:nvPr/>
        </p:nvSpPr>
        <p:spPr>
          <a:xfrm>
            <a:off x="150876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회의비</a:t>
            </a:r>
            <a:endParaRPr lang="en-US" sz="1700" dirty="0"/>
          </a:p>
        </p:txBody>
      </p:sp>
      <p:sp>
        <p:nvSpPr>
          <p:cNvPr id="7" name="txt276"/>
          <p:cNvSpPr txBox="1"/>
          <p:nvPr/>
        </p:nvSpPr>
        <p:spPr>
          <a:xfrm>
            <a:off x="822960" y="23317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내규 별표2-12가 2026.6.12. 개정으로 "참여연구자만 참여 회의 식비 불가"를 이미 반영. 단가 내부 3만·외부 5만원</a:t>
            </a:r>
            <a:endParaRPr lang="en-US" sz="1450" dirty="0"/>
          </a:p>
        </p:txBody>
      </p:sp>
      <p:sp>
        <p:nvSpPr>
          <p:cNvPr id="8" name="card277"/>
          <p:cNvSpPr/>
          <p:nvPr/>
        </p:nvSpPr>
        <p:spPr>
          <a:xfrm>
            <a:off x="4297680" y="137160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iconCircle278"/>
          <p:cNvSpPr/>
          <p:nvPr/>
        </p:nvSpPr>
        <p:spPr>
          <a:xfrm>
            <a:off x="457200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27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674" y="1777594"/>
            <a:ext cx="285293" cy="285293"/>
          </a:xfrm>
          <a:prstGeom prst="rect">
            <a:avLst/>
          </a:prstGeom>
        </p:spPr>
      </p:pic>
      <p:sp>
        <p:nvSpPr>
          <p:cNvPr id="11" name="txt279"/>
          <p:cNvSpPr txBox="1"/>
          <p:nvPr/>
        </p:nvSpPr>
        <p:spPr>
          <a:xfrm>
            <a:off x="525780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연구수당</a:t>
            </a:r>
            <a:endParaRPr lang="en-US" sz="1700" dirty="0"/>
          </a:p>
        </p:txBody>
      </p:sp>
      <p:sp>
        <p:nvSpPr>
          <p:cNvPr id="12" name="txt280"/>
          <p:cNvSpPr txBox="1"/>
          <p:nvPr/>
        </p:nvSpPr>
        <p:spPr>
          <a:xfrm>
            <a:off x="4572000" y="23317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내규의 "인건비(미지급·학생인건비 포함)의 20%"는 사용기준 수정인건비 20%와 같은 개념</a:t>
            </a:r>
            <a:endParaRPr lang="en-US" sz="1450" dirty="0"/>
          </a:p>
        </p:txBody>
      </p:sp>
      <p:sp>
        <p:nvSpPr>
          <p:cNvPr id="13" name="card281"/>
          <p:cNvSpPr/>
          <p:nvPr/>
        </p:nvSpPr>
        <p:spPr>
          <a:xfrm>
            <a:off x="8046720" y="137160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iconCircle282"/>
          <p:cNvSpPr/>
          <p:nvPr/>
        </p:nvSpPr>
        <p:spPr>
          <a:xfrm>
            <a:off x="832104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28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714" y="1777594"/>
            <a:ext cx="285293" cy="285293"/>
          </a:xfrm>
          <a:prstGeom prst="rect">
            <a:avLst/>
          </a:prstGeom>
        </p:spPr>
      </p:pic>
      <p:sp>
        <p:nvSpPr>
          <p:cNvPr id="16" name="txt283"/>
          <p:cNvSpPr txBox="1"/>
          <p:nvPr/>
        </p:nvSpPr>
        <p:spPr>
          <a:xfrm>
            <a:off x="900684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구매 금액기준</a:t>
            </a:r>
            <a:endParaRPr lang="en-US" sz="1700" dirty="0"/>
          </a:p>
        </p:txBody>
      </p:sp>
      <p:sp>
        <p:nvSpPr>
          <p:cNvPr id="17" name="txt284"/>
          <p:cNvSpPr txBox="1"/>
          <p:nvPr/>
        </p:nvSpPr>
        <p:spPr>
          <a:xfrm>
            <a:off x="8321040" y="23317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학내 요강이 더 엄격: 직접구매 물품 500만·용역 1,000만원 미만, 2,000만원 이상 경쟁입찰</a:t>
            </a:r>
            <a:endParaRPr lang="en-US" sz="1450" dirty="0"/>
          </a:p>
        </p:txBody>
      </p:sp>
      <p:sp>
        <p:nvSpPr>
          <p:cNvPr id="18" name="card285"/>
          <p:cNvSpPr/>
          <p:nvPr/>
        </p:nvSpPr>
        <p:spPr>
          <a:xfrm>
            <a:off x="548640" y="37490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iconCircle286"/>
          <p:cNvSpPr/>
          <p:nvPr/>
        </p:nvSpPr>
        <p:spPr>
          <a:xfrm>
            <a:off x="822960" y="4023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28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4155034"/>
            <a:ext cx="285293" cy="285293"/>
          </a:xfrm>
          <a:prstGeom prst="rect">
            <a:avLst/>
          </a:prstGeom>
        </p:spPr>
      </p:pic>
      <p:sp>
        <p:nvSpPr>
          <p:cNvPr id="21" name="txt287"/>
          <p:cNvSpPr txBox="1"/>
          <p:nvPr/>
        </p:nvSpPr>
        <p:spPr>
          <a:xfrm>
            <a:off x="150876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검수 간소화</a:t>
            </a:r>
            <a:endParaRPr lang="en-US" sz="1700" dirty="0"/>
          </a:p>
        </p:txBody>
      </p:sp>
      <p:sp>
        <p:nvSpPr>
          <p:cNvPr id="22" name="txt288"/>
          <p:cNvSpPr txBox="1"/>
          <p:nvPr/>
        </p:nvSpPr>
        <p:spPr>
          <a:xfrm>
            <a:off x="822960" y="47091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100만원 이하 재료 검수 간소화는 학교 자체규정이 있어야 적용 — 근거 위치 결정 필요</a:t>
            </a:r>
            <a:endParaRPr lang="en-US" sz="1450" dirty="0"/>
          </a:p>
        </p:txBody>
      </p:sp>
      <p:sp>
        <p:nvSpPr>
          <p:cNvPr id="23" name="card289"/>
          <p:cNvSpPr/>
          <p:nvPr/>
        </p:nvSpPr>
        <p:spPr>
          <a:xfrm>
            <a:off x="4297680" y="37490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iconCircle290"/>
          <p:cNvSpPr/>
          <p:nvPr/>
        </p:nvSpPr>
        <p:spPr>
          <a:xfrm>
            <a:off x="4572000" y="4023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29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674" y="4155034"/>
            <a:ext cx="285293" cy="285293"/>
          </a:xfrm>
          <a:prstGeom prst="rect">
            <a:avLst/>
          </a:prstGeom>
        </p:spPr>
      </p:pic>
      <p:sp>
        <p:nvSpPr>
          <p:cNvPr id="26" name="txt291"/>
          <p:cNvSpPr txBox="1"/>
          <p:nvPr/>
        </p:nvSpPr>
        <p:spPr>
          <a:xfrm>
            <a:off x="525780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이자</a:t>
            </a:r>
            <a:endParaRPr lang="en-US" sz="1700" dirty="0"/>
          </a:p>
        </p:txBody>
      </p:sp>
      <p:sp>
        <p:nvSpPr>
          <p:cNvPr id="27" name="txt292"/>
          <p:cNvSpPr txBox="1"/>
          <p:nvPr/>
        </p:nvSpPr>
        <p:spPr>
          <a:xfrm>
            <a:off x="4572000" y="47091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내규 제13조는 산단 회계 통합관리, 정부지원 연구개발비 이자는 2026.3.10.부터 국고납입 원칙</a:t>
            </a:r>
            <a:endParaRPr lang="en-US" sz="1450" dirty="0"/>
          </a:p>
        </p:txBody>
      </p:sp>
      <p:sp>
        <p:nvSpPr>
          <p:cNvPr id="28" name="card293"/>
          <p:cNvSpPr/>
          <p:nvPr/>
        </p:nvSpPr>
        <p:spPr>
          <a:xfrm>
            <a:off x="8046720" y="37490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iconCircle294"/>
          <p:cNvSpPr/>
          <p:nvPr/>
        </p:nvSpPr>
        <p:spPr>
          <a:xfrm>
            <a:off x="8321040" y="4023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29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2714" y="4155034"/>
            <a:ext cx="285293" cy="285293"/>
          </a:xfrm>
          <a:prstGeom prst="rect">
            <a:avLst/>
          </a:prstGeom>
        </p:spPr>
      </p:pic>
      <p:sp>
        <p:nvSpPr>
          <p:cNvPr id="31" name="txt295"/>
          <p:cNvSpPr txBox="1"/>
          <p:nvPr/>
        </p:nvSpPr>
        <p:spPr>
          <a:xfrm>
            <a:off x="900684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내부거래</a:t>
            </a:r>
            <a:endParaRPr lang="en-US" sz="1700" dirty="0"/>
          </a:p>
        </p:txBody>
      </p:sp>
      <p:sp>
        <p:nvSpPr>
          <p:cNvPr id="32" name="txt296"/>
          <p:cNvSpPr txBox="1"/>
          <p:nvPr/>
        </p:nvSpPr>
        <p:spPr>
          <a:xfrm>
            <a:off x="8321040" y="47091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산단–대학 간 거래는 계상 불가. 교내 공동장비 이용료는 ZEUS 등록 장비만 예외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Ⅳ. 앵커 사업비 규정 핵심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BFDCCB"/>
                </a:solidFill>
              </a:rPr>
              <a:t>교육부 「앵커 사업비 집행 및 관리 지침」 4차(2026.9.) · 「서울 앵커 사업비 집행 및 관리 기준」 3차(2026.7.28.)</a:t>
            </a:r>
            <a:endParaRPr lang="en-US" sz="1600" dirty="0"/>
          </a:p>
        </p:txBody>
      </p:sp>
      <p:sp>
        <p:nvSpPr>
          <p:cNvPr id="4" name="iconCircle297"/>
          <p:cNvSpPr/>
          <p:nvPr/>
        </p:nvSpPr>
        <p:spPr>
          <a:xfrm>
            <a:off x="731520" y="14630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29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682496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앵커 사업비는 보조금 — 회계 일반과 지출 원칙</a:t>
            </a:r>
            <a:endParaRPr lang="en-US" sz="2800" dirty="0"/>
          </a:p>
        </p:txBody>
      </p:sp>
      <p:sp>
        <p:nvSpPr>
          <p:cNvPr id="3" name="card298"/>
          <p:cNvSpPr/>
          <p:nvPr/>
        </p:nvSpPr>
        <p:spPr>
          <a:xfrm>
            <a:off x="548640" y="1371600"/>
            <a:ext cx="3520440" cy="40233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4" name="iconCircle299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29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777594"/>
            <a:ext cx="285293" cy="285293"/>
          </a:xfrm>
          <a:prstGeom prst="rect">
            <a:avLst/>
          </a:prstGeom>
        </p:spPr>
      </p:pic>
      <p:sp>
        <p:nvSpPr>
          <p:cNvPr id="6" name="txt300"/>
          <p:cNvSpPr txBox="1"/>
          <p:nvPr/>
        </p:nvSpPr>
        <p:spPr>
          <a:xfrm>
            <a:off x="150876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기간</a:t>
            </a:r>
            <a:endParaRPr lang="en-US" sz="1900" dirty="0"/>
          </a:p>
        </p:txBody>
      </p:sp>
      <p:sp>
        <p:nvSpPr>
          <p:cNvPr id="7" name="txt301"/>
          <p:cNvSpPr txBox="1"/>
          <p:nvPr/>
        </p:nvSpPr>
        <p:spPr>
          <a:xfrm>
            <a:off x="822960" y="242316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사업연도 3.1.~익년 2월 말, 회계연도 1.1.~12.31.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12.31. 이후 집행은 e나라도움 회계연도 이월 필수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원인행위·거래행위가 같은 사업연도에 있어야 인정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사업 선정 전 지출 소급 불가</a:t>
            </a:r>
            <a:endParaRPr lang="en-US" sz="1400" dirty="0"/>
          </a:p>
        </p:txBody>
      </p:sp>
      <p:sp>
        <p:nvSpPr>
          <p:cNvPr id="8" name="card302"/>
          <p:cNvSpPr/>
          <p:nvPr/>
        </p:nvSpPr>
        <p:spPr>
          <a:xfrm>
            <a:off x="4297680" y="1371600"/>
            <a:ext cx="3520440" cy="40233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9" name="iconCircle303"/>
          <p:cNvSpPr/>
          <p:nvPr/>
        </p:nvSpPr>
        <p:spPr>
          <a:xfrm>
            <a:off x="457200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30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674" y="1777594"/>
            <a:ext cx="285293" cy="285293"/>
          </a:xfrm>
          <a:prstGeom prst="rect">
            <a:avLst/>
          </a:prstGeom>
        </p:spPr>
      </p:pic>
      <p:sp>
        <p:nvSpPr>
          <p:cNvPr id="11" name="txt304"/>
          <p:cNvSpPr txBox="1"/>
          <p:nvPr/>
        </p:nvSpPr>
        <p:spPr>
          <a:xfrm>
            <a:off x="525780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지출·증빙</a:t>
            </a:r>
            <a:endParaRPr lang="en-US" sz="1900" dirty="0"/>
          </a:p>
        </p:txBody>
      </p:sp>
      <p:sp>
        <p:nvSpPr>
          <p:cNvPr id="12" name="txt305"/>
          <p:cNvSpPr txBox="1"/>
          <p:nvPr/>
        </p:nvSpPr>
        <p:spPr>
          <a:xfrm>
            <a:off x="4572000" y="242316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e나라도움 카드 또는 계좌이체(개인 지급은 이체)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인정 증빙: 카드전표·전자세금계산서·공공기관 영수증·이체 증빙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증빙 사업 종료 후 5년 보존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accent4"/>
                </a:solidFill>
              </a:rPr>
              <a:t>간이영수증은 인정 증빙 아님</a:t>
            </a:r>
            <a:endParaRPr lang="en-US" sz="1400" dirty="0"/>
          </a:p>
        </p:txBody>
      </p:sp>
      <p:sp>
        <p:nvSpPr>
          <p:cNvPr id="13" name="card306"/>
          <p:cNvSpPr/>
          <p:nvPr/>
        </p:nvSpPr>
        <p:spPr>
          <a:xfrm>
            <a:off x="8046720" y="1371600"/>
            <a:ext cx="3520440" cy="40233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4" name="iconCircle307"/>
          <p:cNvSpPr/>
          <p:nvPr/>
        </p:nvSpPr>
        <p:spPr>
          <a:xfrm>
            <a:off x="832104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30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714" y="1777594"/>
            <a:ext cx="285293" cy="285293"/>
          </a:xfrm>
          <a:prstGeom prst="rect">
            <a:avLst/>
          </a:prstGeom>
        </p:spPr>
      </p:pic>
      <p:sp>
        <p:nvSpPr>
          <p:cNvPr id="16" name="txt308"/>
          <p:cNvSpPr txBox="1"/>
          <p:nvPr/>
        </p:nvSpPr>
        <p:spPr>
          <a:xfrm>
            <a:off x="900684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관리·점검</a:t>
            </a:r>
            <a:endParaRPr lang="en-US" sz="1900" dirty="0"/>
          </a:p>
        </p:txBody>
      </p:sp>
      <p:sp>
        <p:nvSpPr>
          <p:cNvPr id="17" name="txt309"/>
          <p:cNvSpPr txBox="1"/>
          <p:nvPr/>
        </p:nvSpPr>
        <p:spPr>
          <a:xfrm>
            <a:off x="8321040" y="242316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국고·대응자금 구분, 캠퍼스타운 등은 대학 대응자금 우선 집행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단위과제별 별도 계정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매월 첫째 주 e나라도움·서울앵커사업관리플랫폼 등록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서울앵커센터 월 1회 이상 점검</a:t>
            </a:r>
            <a:endParaRPr lang="en-US" sz="1400" dirty="0"/>
          </a:p>
        </p:txBody>
      </p:sp>
      <p:sp>
        <p:nvSpPr>
          <p:cNvPr id="18" name="card310"/>
          <p:cNvSpPr/>
          <p:nvPr/>
        </p:nvSpPr>
        <p:spPr>
          <a:xfrm>
            <a:off x="548640" y="5532120"/>
            <a:ext cx="11064240" cy="54864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19" name="txt311"/>
          <p:cNvSpPr txBox="1"/>
          <p:nvPr/>
        </p:nvSpPr>
        <p:spPr>
          <a:xfrm>
            <a:off x="777240" y="5532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서울 식별코드  &lt;01.01.01.03&gt;  =  주관대학(건국대) . 단위과제 . 수행대학 . 사업비 항목 — 꺾쇠 안 띄어쓰기 금지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편성 비율 — 인건비는 구간별, 운영경비 5%·간접비 3%</a:t>
            </a:r>
            <a:endParaRPr lang="en-US" sz="2800" dirty="0"/>
          </a:p>
        </p:txBody>
      </p:sp>
      <p:sp>
        <p:nvSpPr>
          <p:cNvPr id="3" name="txt312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인건비 편성 비율 (지역 앵커 수주 사업비, 구간별 합산)</a:t>
            </a:r>
            <a:endParaRPr lang="en-US" sz="1500" dirty="0"/>
          </a:p>
        </p:txBody>
      </p:sp>
      <p:sp>
        <p:nvSpPr>
          <p:cNvPr id="4" name="card313"/>
          <p:cNvSpPr/>
          <p:nvPr/>
        </p:nvSpPr>
        <p:spPr>
          <a:xfrm>
            <a:off x="548640" y="178308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5" name="txt314"/>
          <p:cNvSpPr txBox="1"/>
          <p:nvPr/>
        </p:nvSpPr>
        <p:spPr>
          <a:xfrm>
            <a:off x="777240" y="1874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30%</a:t>
            </a:r>
            <a:endParaRPr lang="en-US" sz="3800" dirty="0"/>
          </a:p>
        </p:txBody>
      </p:sp>
      <p:sp>
        <p:nvSpPr>
          <p:cNvPr id="6" name="txt315"/>
          <p:cNvSpPr txBox="1"/>
          <p:nvPr/>
        </p:nvSpPr>
        <p:spPr>
          <a:xfrm>
            <a:off x="77724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10억원 이하</a:t>
            </a:r>
            <a:endParaRPr lang="en-US" sz="1500" dirty="0"/>
          </a:p>
        </p:txBody>
      </p:sp>
      <p:sp>
        <p:nvSpPr>
          <p:cNvPr id="7" name="card316"/>
          <p:cNvSpPr/>
          <p:nvPr/>
        </p:nvSpPr>
        <p:spPr>
          <a:xfrm>
            <a:off x="3337560" y="178308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8" name="txt317"/>
          <p:cNvSpPr txBox="1"/>
          <p:nvPr/>
        </p:nvSpPr>
        <p:spPr>
          <a:xfrm>
            <a:off x="3566160" y="1874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25%</a:t>
            </a:r>
            <a:endParaRPr lang="en-US" sz="3800" dirty="0"/>
          </a:p>
        </p:txBody>
      </p:sp>
      <p:sp>
        <p:nvSpPr>
          <p:cNvPr id="9" name="txt318"/>
          <p:cNvSpPr txBox="1"/>
          <p:nvPr/>
        </p:nvSpPr>
        <p:spPr>
          <a:xfrm>
            <a:off x="356616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10억~100억</a:t>
            </a:r>
            <a:endParaRPr lang="en-US" sz="1500" dirty="0"/>
          </a:p>
        </p:txBody>
      </p:sp>
      <p:sp>
        <p:nvSpPr>
          <p:cNvPr id="10" name="card319"/>
          <p:cNvSpPr/>
          <p:nvPr/>
        </p:nvSpPr>
        <p:spPr>
          <a:xfrm>
            <a:off x="6126480" y="178308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1" name="txt320"/>
          <p:cNvSpPr txBox="1"/>
          <p:nvPr/>
        </p:nvSpPr>
        <p:spPr>
          <a:xfrm>
            <a:off x="6355080" y="1874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20%</a:t>
            </a:r>
            <a:endParaRPr lang="en-US" sz="3800" dirty="0"/>
          </a:p>
        </p:txBody>
      </p:sp>
      <p:sp>
        <p:nvSpPr>
          <p:cNvPr id="12" name="txt321"/>
          <p:cNvSpPr txBox="1"/>
          <p:nvPr/>
        </p:nvSpPr>
        <p:spPr>
          <a:xfrm>
            <a:off x="635508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100억~200억</a:t>
            </a:r>
            <a:endParaRPr lang="en-US" sz="1500" dirty="0"/>
          </a:p>
        </p:txBody>
      </p:sp>
      <p:sp>
        <p:nvSpPr>
          <p:cNvPr id="13" name="card322"/>
          <p:cNvSpPr/>
          <p:nvPr/>
        </p:nvSpPr>
        <p:spPr>
          <a:xfrm>
            <a:off x="8915400" y="1783080"/>
            <a:ext cx="260604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4" name="txt323"/>
          <p:cNvSpPr txBox="1"/>
          <p:nvPr/>
        </p:nvSpPr>
        <p:spPr>
          <a:xfrm>
            <a:off x="9144000" y="1874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15%</a:t>
            </a:r>
            <a:endParaRPr lang="en-US" sz="3800" dirty="0"/>
          </a:p>
        </p:txBody>
      </p:sp>
      <p:sp>
        <p:nvSpPr>
          <p:cNvPr id="15" name="txt324"/>
          <p:cNvSpPr txBox="1"/>
          <p:nvPr/>
        </p:nvSpPr>
        <p:spPr>
          <a:xfrm>
            <a:off x="914400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200억 초과</a:t>
            </a:r>
            <a:endParaRPr lang="en-US" sz="1500" dirty="0"/>
          </a:p>
        </p:txBody>
      </p:sp>
      <p:sp>
        <p:nvSpPr>
          <p:cNvPr id="16" name="txt325"/>
          <p:cNvSpPr txBox="1"/>
          <p:nvPr/>
        </p:nvSpPr>
        <p:spPr>
          <a:xfrm>
            <a:off x="548640" y="3474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계산식 ∑[구간별 사업비 × 구간 비율] · 기준: 직접 집행·관리하는 당해연도 총 사업비(지자체 대응자금 포함)</a:t>
            </a:r>
            <a:endParaRPr lang="en-US" sz="1200" dirty="0"/>
          </a:p>
        </p:txBody>
      </p:sp>
      <p:sp>
        <p:nvSpPr>
          <p:cNvPr id="17" name="card326"/>
          <p:cNvSpPr/>
          <p:nvPr/>
        </p:nvSpPr>
        <p:spPr>
          <a:xfrm>
            <a:off x="548640" y="402336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8" name="txt327"/>
          <p:cNvSpPr txBox="1"/>
          <p:nvPr/>
        </p:nvSpPr>
        <p:spPr>
          <a:xfrm>
            <a:off x="822960" y="4160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5%</a:t>
            </a:r>
            <a:endParaRPr lang="en-US" sz="3000" dirty="0"/>
          </a:p>
        </p:txBody>
      </p:sp>
      <p:sp>
        <p:nvSpPr>
          <p:cNvPr id="19" name="txt328"/>
          <p:cNvSpPr txBox="1"/>
          <p:nvPr/>
        </p:nvSpPr>
        <p:spPr>
          <a:xfrm>
            <a:off x="822960" y="4892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그 밖의 사업운영 경비</a:t>
            </a:r>
            <a:endParaRPr lang="en-US" sz="1600" dirty="0"/>
          </a:p>
        </p:txBody>
      </p:sp>
      <p:sp>
        <p:nvSpPr>
          <p:cNvPr id="20" name="txt329"/>
          <p:cNvSpPr txBox="1"/>
          <p:nvPr/>
        </p:nvSpPr>
        <p:spPr>
          <a:xfrm>
            <a:off x="822960" y="5303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간접비 별도 편성 시 3% 이내</a:t>
            </a:r>
            <a:endParaRPr lang="en-US" sz="1300" dirty="0"/>
          </a:p>
        </p:txBody>
      </p:sp>
      <p:sp>
        <p:nvSpPr>
          <p:cNvPr id="21" name="card330"/>
          <p:cNvSpPr/>
          <p:nvPr/>
        </p:nvSpPr>
        <p:spPr>
          <a:xfrm>
            <a:off x="4297680" y="402336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2" name="txt331"/>
          <p:cNvSpPr txBox="1"/>
          <p:nvPr/>
        </p:nvSpPr>
        <p:spPr>
          <a:xfrm>
            <a:off x="4572000" y="4160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3%</a:t>
            </a:r>
            <a:endParaRPr lang="en-US" sz="3000" dirty="0"/>
          </a:p>
        </p:txBody>
      </p:sp>
      <p:sp>
        <p:nvSpPr>
          <p:cNvPr id="23" name="txt332"/>
          <p:cNvSpPr txBox="1"/>
          <p:nvPr/>
        </p:nvSpPr>
        <p:spPr>
          <a:xfrm>
            <a:off x="4572000" y="4892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간접비</a:t>
            </a:r>
            <a:endParaRPr lang="en-US" sz="1600" dirty="0"/>
          </a:p>
        </p:txBody>
      </p:sp>
      <p:sp>
        <p:nvSpPr>
          <p:cNvPr id="24" name="txt333"/>
          <p:cNvSpPr txBox="1"/>
          <p:nvPr/>
        </p:nvSpPr>
        <p:spPr>
          <a:xfrm>
            <a:off x="4572000" y="5303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산학협력단·법인회계 계정만, 직접 관리 사업비 기준</a:t>
            </a:r>
            <a:endParaRPr lang="en-US" sz="1300" dirty="0"/>
          </a:p>
        </p:txBody>
      </p:sp>
      <p:sp>
        <p:nvSpPr>
          <p:cNvPr id="25" name="card334"/>
          <p:cNvSpPr/>
          <p:nvPr/>
        </p:nvSpPr>
        <p:spPr>
          <a:xfrm>
            <a:off x="8046720" y="4023360"/>
            <a:ext cx="3520440" cy="2011680"/>
          </a:xfrm>
          <a:prstGeom prst="roundRect">
            <a:avLst>
              <a:gd name="adj" fmla="val 5455"/>
            </a:avLst>
          </a:prstGeom>
          <a:solidFill>
            <a:schemeClr val="accent1"/>
          </a:solidFill>
          <a:ln/>
        </p:spPr>
      </p:sp>
      <p:sp>
        <p:nvSpPr>
          <p:cNvPr id="26" name="txt335"/>
          <p:cNvSpPr txBox="1"/>
          <p:nvPr/>
        </p:nvSpPr>
        <p:spPr>
          <a:xfrm>
            <a:off x="8321040" y="4160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5% · 1천만원</a:t>
            </a:r>
            <a:endParaRPr lang="en-US" sz="3000" dirty="0"/>
          </a:p>
        </p:txBody>
      </p:sp>
      <p:sp>
        <p:nvSpPr>
          <p:cNvPr id="27" name="txt336"/>
          <p:cNvSpPr txBox="1"/>
          <p:nvPr/>
        </p:nvSpPr>
        <p:spPr>
          <a:xfrm>
            <a:off x="8321040" y="4892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보직수당 + 성과급</a:t>
            </a:r>
            <a:endParaRPr lang="en-US" sz="1600" dirty="0"/>
          </a:p>
        </p:txBody>
      </p:sp>
      <p:sp>
        <p:nvSpPr>
          <p:cNvPr id="28" name="txt337"/>
          <p:cNvSpPr txBox="1"/>
          <p:nvPr/>
        </p:nvSpPr>
        <p:spPr>
          <a:xfrm>
            <a:off x="8321040" y="5303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7EBDF"/>
                </a:solidFill>
              </a:rPr>
              <a:t>사업비 총액 5% 범위, 연간 1인당 최대 1,000만원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항목별로 자주 걸리는 집행 제한</a:t>
            </a:r>
            <a:endParaRPr lang="en-US" sz="2800" dirty="0"/>
          </a:p>
        </p:txBody>
      </p:sp>
      <p:sp>
        <p:nvSpPr>
          <p:cNvPr id="3" name="card338"/>
          <p:cNvSpPr/>
          <p:nvPr/>
        </p:nvSpPr>
        <p:spPr>
          <a:xfrm>
            <a:off x="548640" y="137160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iconCircle339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icon33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777594"/>
            <a:ext cx="285293" cy="285293"/>
          </a:xfrm>
          <a:prstGeom prst="rect">
            <a:avLst/>
          </a:prstGeom>
        </p:spPr>
      </p:pic>
      <p:sp>
        <p:nvSpPr>
          <p:cNvPr id="6" name="txt340"/>
          <p:cNvSpPr txBox="1"/>
          <p:nvPr/>
        </p:nvSpPr>
        <p:spPr>
          <a:xfrm>
            <a:off x="150876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인건비</a:t>
            </a:r>
            <a:endParaRPr lang="en-US" sz="1700" dirty="0"/>
          </a:p>
        </p:txBody>
      </p:sp>
      <p:sp>
        <p:nvSpPr>
          <p:cNvPr id="7" name="txt341"/>
          <p:cNvSpPr txBox="1"/>
          <p:nvPr/>
        </p:nvSpPr>
        <p:spPr>
          <a:xfrm>
            <a:off x="822960" y="23317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전담하지 않는 기존 교직원 급여, 겸직자 인건비, 통상업무 수당, 균등 배분 성과급, 타 사업 중복 지급</a:t>
            </a:r>
            <a:endParaRPr lang="en-US" sz="1400" dirty="0"/>
          </a:p>
        </p:txBody>
      </p:sp>
      <p:sp>
        <p:nvSpPr>
          <p:cNvPr id="8" name="card342"/>
          <p:cNvSpPr/>
          <p:nvPr/>
        </p:nvSpPr>
        <p:spPr>
          <a:xfrm>
            <a:off x="4297680" y="137160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iconCircle343"/>
          <p:cNvSpPr/>
          <p:nvPr/>
        </p:nvSpPr>
        <p:spPr>
          <a:xfrm>
            <a:off x="4572000" y="16459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icon34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674" y="1777594"/>
            <a:ext cx="285293" cy="285293"/>
          </a:xfrm>
          <a:prstGeom prst="rect">
            <a:avLst/>
          </a:prstGeom>
        </p:spPr>
      </p:pic>
      <p:sp>
        <p:nvSpPr>
          <p:cNvPr id="11" name="txt344"/>
          <p:cNvSpPr txBox="1"/>
          <p:nvPr/>
        </p:nvSpPr>
        <p:spPr>
          <a:xfrm>
            <a:off x="525780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교육·연구 프로그램</a:t>
            </a:r>
            <a:endParaRPr lang="en-US" sz="1700" dirty="0"/>
          </a:p>
        </p:txBody>
      </p:sp>
      <p:sp>
        <p:nvSpPr>
          <p:cNvPr id="12" name="txt345"/>
          <p:cNvSpPr txBox="1"/>
          <p:nvPr/>
        </p:nvSpPr>
        <p:spPr>
          <a:xfrm>
            <a:off x="4572000" y="23317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내부 교직원 본 업무 수당, 기존 교재 원고료, 외유성 연수, 통상 워크숍, 참여 독려 상품권</a:t>
            </a:r>
            <a:endParaRPr lang="en-US" sz="1400" dirty="0"/>
          </a:p>
        </p:txBody>
      </p:sp>
      <p:sp>
        <p:nvSpPr>
          <p:cNvPr id="13" name="card346"/>
          <p:cNvSpPr/>
          <p:nvPr/>
        </p:nvSpPr>
        <p:spPr>
          <a:xfrm>
            <a:off x="8046720" y="137160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iconCircle347"/>
          <p:cNvSpPr/>
          <p:nvPr/>
        </p:nvSpPr>
        <p:spPr>
          <a:xfrm>
            <a:off x="8321040" y="16459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con34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714" y="1777594"/>
            <a:ext cx="285293" cy="285293"/>
          </a:xfrm>
          <a:prstGeom prst="rect">
            <a:avLst/>
          </a:prstGeom>
        </p:spPr>
      </p:pic>
      <p:sp>
        <p:nvSpPr>
          <p:cNvPr id="16" name="txt348"/>
          <p:cNvSpPr txBox="1"/>
          <p:nvPr/>
        </p:nvSpPr>
        <p:spPr>
          <a:xfrm>
            <a:off x="900684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장비·기자재</a:t>
            </a:r>
            <a:endParaRPr lang="en-US" sz="1700" dirty="0"/>
          </a:p>
        </p:txBody>
      </p:sp>
      <p:sp>
        <p:nvSpPr>
          <p:cNvPr id="17" name="txt349"/>
          <p:cNvSpPr txBox="1"/>
          <p:nvPr/>
        </p:nvSpPr>
        <p:spPr>
          <a:xfrm>
            <a:off x="8321040" y="23317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3천만원 이상 자체 심의 + 서울앵커센터(1억 미만)·중앙앵커센터(1억 이상) 사전 승인, 종료 2개월 전 검수</a:t>
            </a:r>
            <a:endParaRPr lang="en-US" sz="1400" dirty="0"/>
          </a:p>
        </p:txBody>
      </p:sp>
      <p:sp>
        <p:nvSpPr>
          <p:cNvPr id="18" name="card350"/>
          <p:cNvSpPr/>
          <p:nvPr/>
        </p:nvSpPr>
        <p:spPr>
          <a:xfrm>
            <a:off x="548640" y="37490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iconCircle351"/>
          <p:cNvSpPr/>
          <p:nvPr/>
        </p:nvSpPr>
        <p:spPr>
          <a:xfrm>
            <a:off x="822960" y="402336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con35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4155034"/>
            <a:ext cx="285293" cy="285293"/>
          </a:xfrm>
          <a:prstGeom prst="rect">
            <a:avLst/>
          </a:prstGeom>
        </p:spPr>
      </p:pic>
      <p:sp>
        <p:nvSpPr>
          <p:cNvPr id="21" name="txt352"/>
          <p:cNvSpPr txBox="1"/>
          <p:nvPr/>
        </p:nvSpPr>
        <p:spPr>
          <a:xfrm>
            <a:off x="150876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기업 지원·협력</a:t>
            </a:r>
            <a:endParaRPr lang="en-US" sz="1700" dirty="0"/>
          </a:p>
        </p:txBody>
      </p:sp>
      <p:sp>
        <p:nvSpPr>
          <p:cNvPr id="22" name="txt353"/>
          <p:cNvSpPr txBox="1"/>
          <p:nvPr/>
        </p:nvSpPr>
        <p:spPr>
          <a:xfrm>
            <a:off x="822960" y="47091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대학 역할 없는 기업 예산 지원(홈페이지·홍보물), 기업 대가성 상품권·기념품, 개인 연구활동비</a:t>
            </a:r>
            <a:endParaRPr lang="en-US" sz="1400" dirty="0"/>
          </a:p>
        </p:txBody>
      </p:sp>
      <p:sp>
        <p:nvSpPr>
          <p:cNvPr id="23" name="card354"/>
          <p:cNvSpPr/>
          <p:nvPr/>
        </p:nvSpPr>
        <p:spPr>
          <a:xfrm>
            <a:off x="4297680" y="37490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iconCircle355"/>
          <p:cNvSpPr/>
          <p:nvPr/>
        </p:nvSpPr>
        <p:spPr>
          <a:xfrm>
            <a:off x="4572000" y="402336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5" name="icon35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674" y="4155034"/>
            <a:ext cx="285293" cy="285293"/>
          </a:xfrm>
          <a:prstGeom prst="rect">
            <a:avLst/>
          </a:prstGeom>
        </p:spPr>
      </p:pic>
      <p:sp>
        <p:nvSpPr>
          <p:cNvPr id="26" name="txt356"/>
          <p:cNvSpPr txBox="1"/>
          <p:nvPr/>
        </p:nvSpPr>
        <p:spPr>
          <a:xfrm>
            <a:off x="525780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그 밖의 운영경비</a:t>
            </a:r>
            <a:endParaRPr lang="en-US" sz="1700" dirty="0"/>
          </a:p>
        </p:txBody>
      </p:sp>
      <p:sp>
        <p:nvSpPr>
          <p:cNvPr id="27" name="txt357"/>
          <p:cNvSpPr txBox="1"/>
          <p:nvPr/>
        </p:nvSpPr>
        <p:spPr>
          <a:xfrm>
            <a:off x="4572000" y="47091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입시홍보·브로슈어, 개인 학회비, 내부규정 위반 회의비·주류, 선물·경조사·화환</a:t>
            </a:r>
            <a:endParaRPr lang="en-US" sz="1400" dirty="0"/>
          </a:p>
        </p:txBody>
      </p:sp>
      <p:sp>
        <p:nvSpPr>
          <p:cNvPr id="28" name="card358"/>
          <p:cNvSpPr/>
          <p:nvPr/>
        </p:nvSpPr>
        <p:spPr>
          <a:xfrm>
            <a:off x="8046720" y="37490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iconCircle359"/>
          <p:cNvSpPr/>
          <p:nvPr/>
        </p:nvSpPr>
        <p:spPr>
          <a:xfrm>
            <a:off x="8321040" y="402336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0" name="icon35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2714" y="4155034"/>
            <a:ext cx="285293" cy="285293"/>
          </a:xfrm>
          <a:prstGeom prst="rect">
            <a:avLst/>
          </a:prstGeom>
        </p:spPr>
      </p:pic>
      <p:sp>
        <p:nvSpPr>
          <p:cNvPr id="31" name="txt360"/>
          <p:cNvSpPr txBox="1"/>
          <p:nvPr/>
        </p:nvSpPr>
        <p:spPr>
          <a:xfrm>
            <a:off x="900684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장학금</a:t>
            </a:r>
            <a:endParaRPr lang="en-US" sz="1700" dirty="0"/>
          </a:p>
        </p:txBody>
      </p:sp>
      <p:sp>
        <p:nvSpPr>
          <p:cNvPr id="32" name="txt361"/>
          <p:cNvSpPr txBox="1"/>
          <p:nvPr/>
        </p:nvSpPr>
        <p:spPr>
          <a:xfrm>
            <a:off x="8321040" y="47091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휴학·졸업·졸업유예생, 생활비 보조 성격(근로장학금 제외), 한국장학재단 이중지원 초과</a:t>
            </a:r>
            <a:endParaRPr lang="en-US" sz="1400" dirty="0"/>
          </a:p>
        </p:txBody>
      </p:sp>
      <p:sp>
        <p:nvSpPr>
          <p:cNvPr id="33" name="txt362"/>
          <p:cNvSpPr txBox="1"/>
          <p:nvPr/>
        </p:nvSpPr>
        <p:spPr>
          <a:xfrm>
            <a:off x="8869680" y="6053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교육부 지침 p.14~21 · 서울 기준 Ⅴ장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서울 [첨부5] 지급 기준 — 대학 규정이 없을 때</a:t>
            </a:r>
            <a:endParaRPr lang="en-US" sz="2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1206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구분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기준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B3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원고료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전문가 40,000원/매 · 조사정리용 12,000원/매 (건당 200만원 초과는 위탁계약)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회의수당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대면·화상 250,000원/인 · 서면 125,000원/인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회의 식비·다과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25,000원/인, 외부위원 주차비 실비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강사료(일반)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최초 1시간 특1급 40만 · 특2급 30만 · 1급(교수) 25만 · 2급 15만 · 3급 10만원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캠퍼스타운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멘토비 1일 50만원(1인 월 200만원), 창업지원금 기업당 연 3천만원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ard363"/>
          <p:cNvSpPr/>
          <p:nvPr/>
        </p:nvSpPr>
        <p:spPr>
          <a:xfrm>
            <a:off x="7863840" y="1371600"/>
            <a:ext cx="3749040" cy="4663440"/>
          </a:xfrm>
          <a:prstGeom prst="roundRect">
            <a:avLst>
              <a:gd name="adj" fmla="val 2927"/>
            </a:avLst>
          </a:prstGeom>
          <a:solidFill>
            <a:schemeClr val="accent4"/>
          </a:solidFill>
          <a:ln/>
        </p:spPr>
      </p:sp>
      <p:sp>
        <p:nvSpPr>
          <p:cNvPr id="5" name="txt364"/>
          <p:cNvSpPr txBox="1"/>
          <p:nvPr/>
        </p:nvSpPr>
        <p:spPr>
          <a:xfrm>
            <a:off x="8138160" y="1600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대학 규정을 따라도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반드시 지킬 것</a:t>
            </a:r>
            <a:endParaRPr lang="en-US" sz="1900" dirty="0"/>
          </a:p>
        </p:txBody>
      </p:sp>
      <p:sp>
        <p:nvSpPr>
          <p:cNvPr id="6" name="txt365"/>
          <p:cNvSpPr txBox="1"/>
          <p:nvPr/>
        </p:nvSpPr>
        <p:spPr>
          <a:xfrm>
            <a:off x="8138160" y="2560320"/>
            <a:ext cx="3246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전문가 활용비 동일인 연 1천만원 이내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외부회의 식비·다과 5만원 이내(청탁금지법)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운영경비 외 항목 회의비는 외부인 참석 회의만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국외여비는 지출 전 서울앵커센터 사전 보고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늘봄 강사료 주강사 4만·보조 2.5만원/시간</a:t>
            </a:r>
            <a:endParaRPr lang="en-US" sz="1400" dirty="0"/>
          </a:p>
        </p:txBody>
      </p:sp>
      <p:sp>
        <p:nvSpPr>
          <p:cNvPr id="7" name="txt366"/>
          <p:cNvSpPr txBox="1"/>
          <p:nvPr/>
        </p:nvSpPr>
        <p:spPr>
          <a:xfrm>
            <a:off x="8869680" y="6053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서울 기준 p.33~35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변경 · 이월 · 정산 — 기한과 한도</a:t>
            </a:r>
            <a:endParaRPr lang="en-US" sz="2800" dirty="0"/>
          </a:p>
        </p:txBody>
      </p:sp>
      <p:sp>
        <p:nvSpPr>
          <p:cNvPr id="3" name="card367"/>
          <p:cNvSpPr/>
          <p:nvPr/>
        </p:nvSpPr>
        <p:spPr>
          <a:xfrm>
            <a:off x="548640" y="1371600"/>
            <a:ext cx="3520440" cy="4663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4" name="iconCircle368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con36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777594"/>
            <a:ext cx="285293" cy="285293"/>
          </a:xfrm>
          <a:prstGeom prst="rect">
            <a:avLst/>
          </a:prstGeom>
        </p:spPr>
      </p:pic>
      <p:sp>
        <p:nvSpPr>
          <p:cNvPr id="6" name="txt369"/>
          <p:cNvSpPr txBox="1"/>
          <p:nvPr/>
        </p:nvSpPr>
        <p:spPr>
          <a:xfrm>
            <a:off x="150876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사업비 변경</a:t>
            </a:r>
            <a:endParaRPr lang="en-US" sz="1900" dirty="0"/>
          </a:p>
        </p:txBody>
      </p:sp>
      <p:sp>
        <p:nvSpPr>
          <p:cNvPr id="7" name="txt370"/>
          <p:cNvSpPr txBox="1"/>
          <p:nvPr/>
        </p:nvSpPr>
        <p:spPr>
          <a:xfrm>
            <a:off x="822960" y="2423160"/>
            <a:ext cx="3017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단위과제·항목 간: 서울앵커센터 사전 통지 → 대학 심의·의결 → 수정계획서 보고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같은 프로젝트 안에서만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늘봄·의과대학·캠퍼스타운 단위과제 간 변경 불가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비목 신설·전용은 e나라도움 승인, 격월 첫째 주 신청</a:t>
            </a:r>
            <a:endParaRPr lang="en-US" sz="1400" dirty="0"/>
          </a:p>
        </p:txBody>
      </p:sp>
      <p:sp>
        <p:nvSpPr>
          <p:cNvPr id="8" name="card371"/>
          <p:cNvSpPr/>
          <p:nvPr/>
        </p:nvSpPr>
        <p:spPr>
          <a:xfrm>
            <a:off x="4297680" y="1371600"/>
            <a:ext cx="3520440" cy="4663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9" name="iconCircle372"/>
          <p:cNvSpPr/>
          <p:nvPr/>
        </p:nvSpPr>
        <p:spPr>
          <a:xfrm>
            <a:off x="4572000" y="16459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con37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674" y="1777594"/>
            <a:ext cx="285293" cy="285293"/>
          </a:xfrm>
          <a:prstGeom prst="rect">
            <a:avLst/>
          </a:prstGeom>
        </p:spPr>
      </p:pic>
      <p:sp>
        <p:nvSpPr>
          <p:cNvPr id="11" name="txt373"/>
          <p:cNvSpPr txBox="1"/>
          <p:nvPr/>
        </p:nvSpPr>
        <p:spPr>
          <a:xfrm>
            <a:off x="525780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이월</a:t>
            </a:r>
            <a:endParaRPr lang="en-US" sz="1900" dirty="0"/>
          </a:p>
        </p:txBody>
      </p:sp>
      <p:sp>
        <p:nvSpPr>
          <p:cNvPr id="12" name="txt374"/>
          <p:cNvSpPr txBox="1"/>
          <p:nvPr/>
        </p:nvSpPr>
        <p:spPr>
          <a:xfrm>
            <a:off x="4572000" y="2423160"/>
            <a:ext cx="3017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원칙 불허, 보조금 예산 10% 이내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2회계연도 초과 불가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종료 30일 전 신청, 15일 전 승인 통보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이월금은 당해연도보다 우선 집행</a:t>
            </a:r>
            <a:endParaRPr lang="en-US" sz="1400" dirty="0"/>
          </a:p>
        </p:txBody>
      </p:sp>
      <p:sp>
        <p:nvSpPr>
          <p:cNvPr id="13" name="card375"/>
          <p:cNvSpPr/>
          <p:nvPr/>
        </p:nvSpPr>
        <p:spPr>
          <a:xfrm>
            <a:off x="8046720" y="1371600"/>
            <a:ext cx="3520440" cy="4663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4" name="iconCircle376"/>
          <p:cNvSpPr/>
          <p:nvPr/>
        </p:nvSpPr>
        <p:spPr>
          <a:xfrm>
            <a:off x="8321040" y="16459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con37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714" y="1777594"/>
            <a:ext cx="285293" cy="285293"/>
          </a:xfrm>
          <a:prstGeom prst="rect">
            <a:avLst/>
          </a:prstGeom>
        </p:spPr>
      </p:pic>
      <p:sp>
        <p:nvSpPr>
          <p:cNvPr id="16" name="txt377"/>
          <p:cNvSpPr txBox="1"/>
          <p:nvPr/>
        </p:nvSpPr>
        <p:spPr>
          <a:xfrm>
            <a:off x="900684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정산·반납</a:t>
            </a:r>
            <a:endParaRPr lang="en-US" sz="1900" dirty="0"/>
          </a:p>
        </p:txBody>
      </p:sp>
      <p:sp>
        <p:nvSpPr>
          <p:cNvPr id="17" name="txt378"/>
          <p:cNvSpPr txBox="1"/>
          <p:nvPr/>
        </p:nvSpPr>
        <p:spPr>
          <a:xfrm>
            <a:off x="8321040" y="2423160"/>
            <a:ext cx="3017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종료 후 2개월 내 e나라도움 정산보고서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1억원 이상 감사인 정산검증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10억원 이상 감사보고서(종료 4개월 내)</a:t>
            </a:r>
            <a:endParaRPr lang="en-US" sz="1400" dirty="0"/>
          </a:p>
          <a:p>
            <a:pPr marL="203200" indent="-2032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집행잔액·이자·위약금·카드포인트 반납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Ⅴ. 건국대 구매·산학협력단 규정 실무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BFDCCB"/>
                </a:solidFill>
              </a:rPr>
              <a:t>구매계약업무요강 28차(2026.7.14.) · 산학협력연구비 중앙관리 및 연구지원 내규 4차(2026.9.9.)</a:t>
            </a:r>
            <a:endParaRPr lang="en-US" sz="1600" dirty="0"/>
          </a:p>
        </p:txBody>
      </p:sp>
      <p:sp>
        <p:nvSpPr>
          <p:cNvPr id="4" name="iconCircle379"/>
          <p:cNvSpPr/>
          <p:nvPr/>
        </p:nvSpPr>
        <p:spPr>
          <a:xfrm>
            <a:off x="731520" y="146304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37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682496"/>
            <a:ext cx="475488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금액별 구매 방법 — 학내 기준이 국가계약법보다 엄격</a:t>
            </a:r>
            <a:endParaRPr lang="en-US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2560320"/>
                <a:gridCol w="35661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구분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예산집행부서 직접구매 (복수견적)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총무처 구매팀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경쟁입찰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B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물품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500만원 미만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500만원 이상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추정금액 2,000만원 이상 원칙</a:t>
                      </a:r>
                      <a:endParaRPr lang="en-US" sz="1400" dirty="0"/>
                    </a:p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(미만은 홈페이지 복수견적)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용역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1,000만원 미만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1,000만원 이상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시설공사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1,500만원 미만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1,500만원 이상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</a:tbl>
          </a:graphicData>
        </a:graphic>
      </p:graphicFrame>
      <p:sp>
        <p:nvSpPr>
          <p:cNvPr id="4" name="card380"/>
          <p:cNvSpPr/>
          <p:nvPr/>
        </p:nvSpPr>
        <p:spPr>
          <a:xfrm>
            <a:off x="548640" y="379476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5" name="iconCircle381"/>
          <p:cNvSpPr/>
          <p:nvPr/>
        </p:nvSpPr>
        <p:spPr>
          <a:xfrm>
            <a:off x="822960" y="402336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con38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4155034"/>
            <a:ext cx="285293" cy="285293"/>
          </a:xfrm>
          <a:prstGeom prst="rect">
            <a:avLst/>
          </a:prstGeom>
        </p:spPr>
      </p:pic>
      <p:sp>
        <p:nvSpPr>
          <p:cNvPr id="7" name="txt382"/>
          <p:cNvSpPr txBox="1"/>
          <p:nvPr/>
        </p:nvSpPr>
        <p:spPr>
          <a:xfrm>
            <a:off x="1508760" y="4069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분할구매 주의</a:t>
            </a:r>
            <a:endParaRPr lang="en-US" sz="1600" dirty="0"/>
          </a:p>
        </p:txBody>
      </p:sp>
      <p:sp>
        <p:nvSpPr>
          <p:cNvPr id="8" name="txt383"/>
          <p:cNvSpPr txBox="1"/>
          <p:nvPr/>
        </p:nvSpPr>
        <p:spPr>
          <a:xfrm>
            <a:off x="822960" y="470916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5일 이내 같은 업체에서 2회 이상 구입하면 동일 구매 건으로 판단 (내규 별표2-5)</a:t>
            </a:r>
            <a:endParaRPr lang="en-US" sz="1350" dirty="0"/>
          </a:p>
        </p:txBody>
      </p:sp>
      <p:sp>
        <p:nvSpPr>
          <p:cNvPr id="9" name="card384"/>
          <p:cNvSpPr/>
          <p:nvPr/>
        </p:nvSpPr>
        <p:spPr>
          <a:xfrm>
            <a:off x="4297680" y="379476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0" name="iconCircle385"/>
          <p:cNvSpPr/>
          <p:nvPr/>
        </p:nvSpPr>
        <p:spPr>
          <a:xfrm>
            <a:off x="4572000" y="4023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38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674" y="4155034"/>
            <a:ext cx="285293" cy="285293"/>
          </a:xfrm>
          <a:prstGeom prst="rect">
            <a:avLst/>
          </a:prstGeom>
        </p:spPr>
      </p:pic>
      <p:sp>
        <p:nvSpPr>
          <p:cNvPr id="12" name="txt386"/>
          <p:cNvSpPr txBox="1"/>
          <p:nvPr/>
        </p:nvSpPr>
        <p:spPr>
          <a:xfrm>
            <a:off x="5257800" y="4069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단일견적 직접구매(신설)</a:t>
            </a:r>
            <a:endParaRPr lang="en-US" sz="1600" dirty="0"/>
          </a:p>
        </p:txBody>
      </p:sp>
      <p:sp>
        <p:nvSpPr>
          <p:cNvPr id="13" name="txt387"/>
          <p:cNvSpPr txBox="1"/>
          <p:nvPr/>
        </p:nvSpPr>
        <p:spPr>
          <a:xfrm>
            <a:off x="4572000" y="470916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출장·행사 교통·숙박·식음료, 광고, 출판물 제작, 국가기관 구매 등 (요강 제3조⑤)</a:t>
            </a:r>
            <a:endParaRPr lang="en-US" sz="1350" dirty="0"/>
          </a:p>
        </p:txBody>
      </p:sp>
      <p:sp>
        <p:nvSpPr>
          <p:cNvPr id="14" name="card388"/>
          <p:cNvSpPr/>
          <p:nvPr/>
        </p:nvSpPr>
        <p:spPr>
          <a:xfrm>
            <a:off x="8046720" y="3794760"/>
            <a:ext cx="352044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5" name="iconCircle389"/>
          <p:cNvSpPr/>
          <p:nvPr/>
        </p:nvSpPr>
        <p:spPr>
          <a:xfrm>
            <a:off x="8321040" y="402336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con38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714" y="4155034"/>
            <a:ext cx="285293" cy="285293"/>
          </a:xfrm>
          <a:prstGeom prst="rect">
            <a:avLst/>
          </a:prstGeom>
        </p:spPr>
      </p:pic>
      <p:sp>
        <p:nvSpPr>
          <p:cNvPr id="17" name="txt390"/>
          <p:cNvSpPr txBox="1"/>
          <p:nvPr/>
        </p:nvSpPr>
        <p:spPr>
          <a:xfrm>
            <a:off x="9006840" y="4069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수의계약</a:t>
            </a:r>
            <a:endParaRPr lang="en-US" sz="1600" dirty="0"/>
          </a:p>
        </p:txBody>
      </p:sp>
      <p:sp>
        <p:nvSpPr>
          <p:cNvPr id="18" name="txt391"/>
          <p:cNvSpPr txBox="1"/>
          <p:nvPr/>
        </p:nvSpPr>
        <p:spPr>
          <a:xfrm>
            <a:off x="8321040" y="4709160"/>
            <a:ext cx="3017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업체지정사유서 [별지 제1호] 첨부, 위임전결 결재 후 구매부서 의뢰. 특허·독점은 근거 첨부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계약 체결부터 검수·자산 등재까지</a:t>
            </a:r>
            <a:endParaRPr lang="en-US" sz="2800" dirty="0"/>
          </a:p>
        </p:txBody>
      </p:sp>
      <p:sp>
        <p:nvSpPr>
          <p:cNvPr id="3" name="card392"/>
          <p:cNvSpPr/>
          <p:nvPr/>
        </p:nvSpPr>
        <p:spPr>
          <a:xfrm>
            <a:off x="548640" y="137160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" name="txt393"/>
          <p:cNvSpPr txBox="1"/>
          <p:nvPr/>
        </p:nvSpPr>
        <p:spPr>
          <a:xfrm>
            <a:off x="777240" y="1463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10일</a:t>
            </a:r>
            <a:endParaRPr lang="en-US" sz="2800" dirty="0"/>
          </a:p>
        </p:txBody>
      </p:sp>
      <p:sp>
        <p:nvSpPr>
          <p:cNvPr id="5" name="txt394"/>
          <p:cNvSpPr txBox="1"/>
          <p:nvPr/>
        </p:nvSpPr>
        <p:spPr>
          <a:xfrm>
            <a:off x="77724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계약서 체결</a:t>
            </a:r>
            <a:endParaRPr lang="en-US" sz="1500" dirty="0"/>
          </a:p>
        </p:txBody>
      </p:sp>
      <p:sp>
        <p:nvSpPr>
          <p:cNvPr id="6" name="txt395"/>
          <p:cNvSpPr txBox="1"/>
          <p:nvPr/>
        </p:nvSpPr>
        <p:spPr>
          <a:xfrm>
            <a:off x="77724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낙찰 후 근무일 기준</a:t>
            </a:r>
            <a:endParaRPr lang="en-US" sz="1250" dirty="0"/>
          </a:p>
        </p:txBody>
      </p:sp>
      <p:sp>
        <p:nvSpPr>
          <p:cNvPr id="7" name="card396"/>
          <p:cNvSpPr/>
          <p:nvPr/>
        </p:nvSpPr>
        <p:spPr>
          <a:xfrm>
            <a:off x="3337560" y="137160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8" name="txt397"/>
          <p:cNvSpPr txBox="1"/>
          <p:nvPr/>
        </p:nvSpPr>
        <p:spPr>
          <a:xfrm>
            <a:off x="3566160" y="1463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3,000만원</a:t>
            </a:r>
            <a:endParaRPr lang="en-US" sz="2800" dirty="0"/>
          </a:p>
        </p:txBody>
      </p:sp>
      <p:sp>
        <p:nvSpPr>
          <p:cNvPr id="9" name="txt398"/>
          <p:cNvSpPr txBox="1"/>
          <p:nvPr/>
        </p:nvSpPr>
        <p:spPr>
          <a:xfrm>
            <a:off x="356616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계약서 생략 가능</a:t>
            </a:r>
            <a:endParaRPr lang="en-US" sz="1500" dirty="0"/>
          </a:p>
        </p:txBody>
      </p:sp>
      <p:sp>
        <p:nvSpPr>
          <p:cNvPr id="10" name="txt399"/>
          <p:cNvSpPr txBox="1"/>
          <p:nvPr/>
        </p:nvSpPr>
        <p:spPr>
          <a:xfrm>
            <a:off x="356616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미만 시 성립 증거서류로 대체</a:t>
            </a:r>
            <a:endParaRPr lang="en-US" sz="1250" dirty="0"/>
          </a:p>
        </p:txBody>
      </p:sp>
      <p:sp>
        <p:nvSpPr>
          <p:cNvPr id="11" name="card400"/>
          <p:cNvSpPr/>
          <p:nvPr/>
        </p:nvSpPr>
        <p:spPr>
          <a:xfrm>
            <a:off x="6126480" y="137160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2" name="txt401"/>
          <p:cNvSpPr txBox="1"/>
          <p:nvPr/>
        </p:nvSpPr>
        <p:spPr>
          <a:xfrm>
            <a:off x="6355080" y="1463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10% · 15%</a:t>
            </a:r>
            <a:endParaRPr lang="en-US" sz="2800" dirty="0"/>
          </a:p>
        </p:txBody>
      </p:sp>
      <p:sp>
        <p:nvSpPr>
          <p:cNvPr id="13" name="txt402"/>
          <p:cNvSpPr txBox="1"/>
          <p:nvPr/>
        </p:nvSpPr>
        <p:spPr>
          <a:xfrm>
            <a:off x="635508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계약보증금</a:t>
            </a:r>
            <a:endParaRPr lang="en-US" sz="1500" dirty="0"/>
          </a:p>
        </p:txBody>
      </p:sp>
      <p:sp>
        <p:nvSpPr>
          <p:cNvPr id="14" name="txt403"/>
          <p:cNvSpPr txBox="1"/>
          <p:nvPr/>
        </p:nvSpPr>
        <p:spPr>
          <a:xfrm>
            <a:off x="635508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물품·용역 / 시설공사</a:t>
            </a:r>
            <a:endParaRPr lang="en-US" sz="1250" dirty="0"/>
          </a:p>
        </p:txBody>
      </p:sp>
      <p:sp>
        <p:nvSpPr>
          <p:cNvPr id="15" name="card404"/>
          <p:cNvSpPr/>
          <p:nvPr/>
        </p:nvSpPr>
        <p:spPr>
          <a:xfrm>
            <a:off x="8915400" y="137160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6" name="txt405"/>
          <p:cNvSpPr txBox="1"/>
          <p:nvPr/>
        </p:nvSpPr>
        <p:spPr>
          <a:xfrm>
            <a:off x="9144000" y="1463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4,000만원</a:t>
            </a:r>
            <a:endParaRPr lang="en-US" sz="2800" dirty="0"/>
          </a:p>
        </p:txBody>
      </p:sp>
      <p:sp>
        <p:nvSpPr>
          <p:cNvPr id="17" name="txt406"/>
          <p:cNvSpPr txBox="1"/>
          <p:nvPr/>
        </p:nvSpPr>
        <p:spPr>
          <a:xfrm>
            <a:off x="9144000" y="2194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감사담당자 입회</a:t>
            </a:r>
            <a:endParaRPr lang="en-US" sz="1500" dirty="0"/>
          </a:p>
        </p:txBody>
      </p:sp>
      <p:sp>
        <p:nvSpPr>
          <p:cNvPr id="18" name="txt407"/>
          <p:cNvSpPr txBox="1"/>
          <p:nvPr/>
        </p:nvSpPr>
        <p:spPr>
          <a:xfrm>
            <a:off x="9144000" y="2606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6"/>
                </a:solidFill>
              </a:rPr>
              <a:t>이상 업체선정 개찰</a:t>
            </a:r>
            <a:endParaRPr lang="en-US" sz="12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76809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92608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구입 항목 (내규 제68조)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산단 중앙검수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고정자산 등재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B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기자재·기계기구·집기비품·SW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단가 50만원 이상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단가 50만원 이상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컴퓨터·모니터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단가 100만원 또는 총액 300만원 이상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단가 100만원 이상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시약·재료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총액 500만원 이상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대상 아님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장비 임차·시설공사·용역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총액 1,000만원 이상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대상 아님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card408"/>
          <p:cNvSpPr/>
          <p:nvPr/>
        </p:nvSpPr>
        <p:spPr>
          <a:xfrm>
            <a:off x="8503920" y="3520440"/>
            <a:ext cx="3108960" cy="2514600"/>
          </a:xfrm>
          <a:prstGeom prst="roundRect">
            <a:avLst>
              <a:gd name="adj" fmla="val 4364"/>
            </a:avLst>
          </a:prstGeom>
          <a:solidFill>
            <a:schemeClr val="accent1"/>
          </a:solidFill>
          <a:ln/>
        </p:spPr>
      </p:sp>
      <p:sp>
        <p:nvSpPr>
          <p:cNvPr id="21" name="txt409"/>
          <p:cNvSpPr txBox="1"/>
          <p:nvPr/>
        </p:nvSpPr>
        <p:spPr>
          <a:xfrm>
            <a:off x="8732520" y="3657600"/>
            <a:ext cx="2697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chemeClr val="bg1"/>
                </a:solidFill>
              </a:rPr>
              <a:t>하자·지체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bg1"/>
                </a:solidFill>
              </a:rPr>
              <a:t>하자보수보증금 3~10%, 담보기간 물품 1년·공사 2년 이상. 지체상금 0.5 / 0.75 / 1.25 (1000분의)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산학협력단 집행 원칙 — 실무자가 자주 묻는 것</a:t>
            </a:r>
            <a:endParaRPr lang="en-US" sz="2800" dirty="0"/>
          </a:p>
        </p:txBody>
      </p:sp>
      <p:sp>
        <p:nvSpPr>
          <p:cNvPr id="3" name="card410"/>
          <p:cNvSpPr/>
          <p:nvPr/>
        </p:nvSpPr>
        <p:spPr>
          <a:xfrm>
            <a:off x="548640" y="137160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iconCircle411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41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777594"/>
            <a:ext cx="285293" cy="285293"/>
          </a:xfrm>
          <a:prstGeom prst="rect">
            <a:avLst/>
          </a:prstGeom>
        </p:spPr>
      </p:pic>
      <p:sp>
        <p:nvSpPr>
          <p:cNvPr id="6" name="txt412"/>
          <p:cNvSpPr txBox="1"/>
          <p:nvPr/>
        </p:nvSpPr>
        <p:spPr>
          <a:xfrm>
            <a:off x="150876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카드·정산</a:t>
            </a:r>
            <a:endParaRPr lang="en-US" sz="1700" dirty="0"/>
          </a:p>
        </p:txBody>
      </p:sp>
      <p:sp>
        <p:nvSpPr>
          <p:cNvPr id="7" name="txt413"/>
          <p:cNvSpPr txBox="1"/>
          <p:nvPr/>
        </p:nvSpPr>
        <p:spPr>
          <a:xfrm>
            <a:off x="822960" y="23317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연구비카드 원칙, 발급 전 대여법인카드. 사용정산 해당 월 10일까지, 2개월 지연 시 지급 중지</a:t>
            </a:r>
            <a:endParaRPr lang="en-US" sz="1350" dirty="0"/>
          </a:p>
        </p:txBody>
      </p:sp>
      <p:sp>
        <p:nvSpPr>
          <p:cNvPr id="8" name="card414"/>
          <p:cNvSpPr/>
          <p:nvPr/>
        </p:nvSpPr>
        <p:spPr>
          <a:xfrm>
            <a:off x="4297680" y="137160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iconCircle415"/>
          <p:cNvSpPr/>
          <p:nvPr/>
        </p:nvSpPr>
        <p:spPr>
          <a:xfrm>
            <a:off x="457200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41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674" y="1777594"/>
            <a:ext cx="285293" cy="285293"/>
          </a:xfrm>
          <a:prstGeom prst="rect">
            <a:avLst/>
          </a:prstGeom>
        </p:spPr>
      </p:pic>
      <p:sp>
        <p:nvSpPr>
          <p:cNvPr id="11" name="txt416"/>
          <p:cNvSpPr txBox="1"/>
          <p:nvPr/>
        </p:nvSpPr>
        <p:spPr>
          <a:xfrm>
            <a:off x="525780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증빙</a:t>
            </a:r>
            <a:endParaRPr lang="en-US" sz="1700" dirty="0"/>
          </a:p>
        </p:txBody>
      </p:sp>
      <p:sp>
        <p:nvSpPr>
          <p:cNvPr id="12" name="txt417"/>
          <p:cNvSpPr txBox="1"/>
          <p:nvPr/>
        </p:nvSpPr>
        <p:spPr>
          <a:xfrm>
            <a:off x="4572000" y="23317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적격증빙 + 세부내역 없으면 거래명세서. 같은 업체·같은 날은 한 건(회의비·식대 제외). 서류 5년, 연구노트 30년</a:t>
            </a:r>
            <a:endParaRPr lang="en-US" sz="1350" dirty="0"/>
          </a:p>
        </p:txBody>
      </p:sp>
      <p:sp>
        <p:nvSpPr>
          <p:cNvPr id="13" name="card418"/>
          <p:cNvSpPr/>
          <p:nvPr/>
        </p:nvSpPr>
        <p:spPr>
          <a:xfrm>
            <a:off x="8046720" y="137160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iconCircle419"/>
          <p:cNvSpPr/>
          <p:nvPr/>
        </p:nvSpPr>
        <p:spPr>
          <a:xfrm>
            <a:off x="832104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41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2714" y="1777594"/>
            <a:ext cx="285293" cy="285293"/>
          </a:xfrm>
          <a:prstGeom prst="rect">
            <a:avLst/>
          </a:prstGeom>
        </p:spPr>
      </p:pic>
      <p:sp>
        <p:nvSpPr>
          <p:cNvPr id="16" name="txt420"/>
          <p:cNvSpPr txBox="1"/>
          <p:nvPr/>
        </p:nvSpPr>
        <p:spPr>
          <a:xfrm>
            <a:off x="900684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출장</a:t>
            </a:r>
            <a:endParaRPr lang="en-US" sz="1700" dirty="0"/>
          </a:p>
        </p:txBody>
      </p:sp>
      <p:sp>
        <p:nvSpPr>
          <p:cNvPr id="17" name="txt421"/>
          <p:cNvSpPr txBox="1"/>
          <p:nvPr/>
        </p:nvSpPr>
        <p:spPr>
          <a:xfrm>
            <a:off x="8321040" y="233172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대학 여비규정 적용, 완료 후 7일 내 증빙. 숙식 포함 학회는 운임·일비만. 미제출 시 지급 중지</a:t>
            </a:r>
            <a:endParaRPr lang="en-US" sz="1350" dirty="0"/>
          </a:p>
        </p:txBody>
      </p:sp>
      <p:sp>
        <p:nvSpPr>
          <p:cNvPr id="18" name="card422"/>
          <p:cNvSpPr/>
          <p:nvPr/>
        </p:nvSpPr>
        <p:spPr>
          <a:xfrm>
            <a:off x="548640" y="37490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iconCircle423"/>
          <p:cNvSpPr/>
          <p:nvPr/>
        </p:nvSpPr>
        <p:spPr>
          <a:xfrm>
            <a:off x="822960" y="4023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42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4155034"/>
            <a:ext cx="285293" cy="285293"/>
          </a:xfrm>
          <a:prstGeom prst="rect">
            <a:avLst/>
          </a:prstGeom>
        </p:spPr>
      </p:pic>
      <p:sp>
        <p:nvSpPr>
          <p:cNvPr id="21" name="txt424"/>
          <p:cNvSpPr txBox="1"/>
          <p:nvPr/>
        </p:nvSpPr>
        <p:spPr>
          <a:xfrm>
            <a:off x="150876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특수관계인</a:t>
            </a:r>
            <a:endParaRPr lang="en-US" sz="1700" dirty="0"/>
          </a:p>
        </p:txBody>
      </p:sp>
      <p:sp>
        <p:nvSpPr>
          <p:cNvPr id="22" name="txt425"/>
          <p:cNvSpPr txBox="1"/>
          <p:nvPr/>
        </p:nvSpPr>
        <p:spPr>
          <a:xfrm>
            <a:off x="822960" y="47091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미성년자·4촌 이내 가족·산단 직원 참여 시 사전 특수관계 확인서 [별지 제8호]</a:t>
            </a:r>
            <a:endParaRPr lang="en-US" sz="1350" dirty="0"/>
          </a:p>
        </p:txBody>
      </p:sp>
      <p:sp>
        <p:nvSpPr>
          <p:cNvPr id="23" name="card426"/>
          <p:cNvSpPr/>
          <p:nvPr/>
        </p:nvSpPr>
        <p:spPr>
          <a:xfrm>
            <a:off x="4297680" y="37490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iconCircle427"/>
          <p:cNvSpPr/>
          <p:nvPr/>
        </p:nvSpPr>
        <p:spPr>
          <a:xfrm>
            <a:off x="4572000" y="4023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42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3674" y="4155034"/>
            <a:ext cx="285293" cy="285293"/>
          </a:xfrm>
          <a:prstGeom prst="rect">
            <a:avLst/>
          </a:prstGeom>
        </p:spPr>
      </p:pic>
      <p:sp>
        <p:nvSpPr>
          <p:cNvPr id="26" name="txt428"/>
          <p:cNvSpPr txBox="1"/>
          <p:nvPr/>
        </p:nvSpPr>
        <p:spPr>
          <a:xfrm>
            <a:off x="525780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선집행</a:t>
            </a:r>
            <a:endParaRPr lang="en-US" sz="1700" dirty="0"/>
          </a:p>
        </p:txBody>
      </p:sp>
      <p:sp>
        <p:nvSpPr>
          <p:cNvPr id="27" name="txt429"/>
          <p:cNvSpPr txBox="1"/>
          <p:nvPr/>
        </p:nvSpPr>
        <p:spPr>
          <a:xfrm>
            <a:off x="4572000" y="47091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정부재정지원사업은 간접비가 없어도 단장 승인 시 선집행 가능, 인건비 우선</a:t>
            </a:r>
            <a:endParaRPr lang="en-US" sz="1350" dirty="0"/>
          </a:p>
        </p:txBody>
      </p:sp>
      <p:sp>
        <p:nvSpPr>
          <p:cNvPr id="28" name="card430"/>
          <p:cNvSpPr/>
          <p:nvPr/>
        </p:nvSpPr>
        <p:spPr>
          <a:xfrm>
            <a:off x="8046720" y="37490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iconCircle431"/>
          <p:cNvSpPr/>
          <p:nvPr/>
        </p:nvSpPr>
        <p:spPr>
          <a:xfrm>
            <a:off x="8321040" y="40233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con43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2714" y="4155034"/>
            <a:ext cx="285293" cy="285293"/>
          </a:xfrm>
          <a:prstGeom prst="rect">
            <a:avLst/>
          </a:prstGeom>
        </p:spPr>
      </p:pic>
      <p:sp>
        <p:nvSpPr>
          <p:cNvPr id="31" name="txt432"/>
          <p:cNvSpPr txBox="1"/>
          <p:nvPr/>
        </p:nvSpPr>
        <p:spPr>
          <a:xfrm>
            <a:off x="900684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일상감사</a:t>
            </a:r>
            <a:endParaRPr lang="en-US" sz="1700" dirty="0"/>
          </a:p>
        </p:txBody>
      </p:sp>
      <p:sp>
        <p:nvSpPr>
          <p:cNvPr id="32" name="txt433"/>
          <p:cNvSpPr txBox="1"/>
          <p:nvPr/>
        </p:nvSpPr>
        <p:spPr>
          <a:xfrm>
            <a:off x="8321040" y="47091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1건 1천만원 이상 집행은 사전 적정성 감사 대상 (제39조)</a:t>
            </a:r>
            <a:endParaRPr lang="en-US" sz="1350" dirty="0"/>
          </a:p>
        </p:txBody>
      </p:sp>
      <p:sp>
        <p:nvSpPr>
          <p:cNvPr id="33" name="txt434"/>
          <p:cNvSpPr txBox="1"/>
          <p:nvPr/>
        </p:nvSpPr>
        <p:spPr>
          <a:xfrm>
            <a:off x="8869680" y="6053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내규 제11·12·15·16·39·62조, 별표2-11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같은 항목, 다른 기준 — 앵커 집행 시 무엇을 따르나</a:t>
            </a:r>
            <a:endParaRPr lang="en-US" sz="28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566160"/>
                <a:gridCol w="3291840"/>
                <a:gridCol w="23774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항목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앵커 지침·서울 기준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산학협력연구비 내규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bg1"/>
                          </a:solidFill>
                        </a:rPr>
                        <a:t>앵커 집행 시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B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회의 식비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1인 2.5만원, 외부회의 5만원 이내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내부 3만·외부 5만원, 내부 회의 불가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서울 첨부5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간이영수증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인정 증빙 아님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3만원 이하, 직접비 2%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4"/>
                          </a:solidFill>
                        </a:rPr>
                        <a:t>사용 금지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전문가 활용비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동일인 연 1천만원, 원고 200만원 초과 위탁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직접비 40% 이내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서울 상한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장비 승인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자체 심의 + 앵커센터 사전 승인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3천만~1억 시설장비심의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둘 다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이자·잔액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집행잔액·이자 반납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1년 후 산단 회계 산입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4"/>
                          </a:solidFill>
                        </a:rPr>
                        <a:t>반납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간접비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3% 이내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배분 65·10·20·5% (4차)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앵커 3% 우선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국외여비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지출 전 서울앵커센터 사전 보고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별표3 출장 승인 절차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accent1"/>
                          </a:solidFill>
                        </a:rPr>
                        <a:t>둘 다</a:t>
                      </a:r>
                      <a:endParaRPr lang="en-US" sz="13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오늘 기억할 일곱 가지</a:t>
            </a:r>
            <a:endParaRPr lang="en-US" sz="3800" dirty="0"/>
          </a:p>
        </p:txBody>
      </p:sp>
      <p:sp>
        <p:nvSpPr>
          <p:cNvPr id="3" name="finDot435"/>
          <p:cNvSpPr/>
          <p:nvPr/>
        </p:nvSpPr>
        <p:spPr>
          <a:xfrm>
            <a:off x="731520" y="2779776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txt436"/>
          <p:cNvSpPr txBox="1"/>
          <p:nvPr/>
        </p:nvSpPr>
        <p:spPr>
          <a:xfrm>
            <a:off x="731520" y="2779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xt437"/>
          <p:cNvSpPr txBox="1"/>
          <p:nvPr/>
        </p:nvSpPr>
        <p:spPr>
          <a:xfrm>
            <a:off x="1325880" y="2743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애매하면 질의하고 회신문을 품의에 첨부한다</a:t>
            </a:r>
            <a:endParaRPr lang="en-US" sz="1600" dirty="0"/>
          </a:p>
        </p:txBody>
      </p:sp>
      <p:sp>
        <p:nvSpPr>
          <p:cNvPr id="6" name="finDot438"/>
          <p:cNvSpPr/>
          <p:nvPr/>
        </p:nvSpPr>
        <p:spPr>
          <a:xfrm>
            <a:off x="731520" y="3236976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xt439"/>
          <p:cNvSpPr txBox="1"/>
          <p:nvPr/>
        </p:nvSpPr>
        <p:spPr>
          <a:xfrm>
            <a:off x="731520" y="3236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</a:t>
            </a:r>
            <a:endParaRPr lang="en-US" sz="1500" dirty="0"/>
          </a:p>
        </p:txBody>
      </p:sp>
      <p:sp>
        <p:nvSpPr>
          <p:cNvPr id="8" name="txt440"/>
          <p:cNvSpPr txBox="1"/>
          <p:nvPr/>
        </p:nvSpPr>
        <p:spPr>
          <a:xfrm>
            <a:off x="1325880" y="32004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2천만원 초과 물품·용역은 전자 2인 이상 견적, 학내 기준이 더 엄격하면 학내 기준</a:t>
            </a:r>
            <a:endParaRPr lang="en-US" sz="1600" dirty="0"/>
          </a:p>
        </p:txBody>
      </p:sp>
      <p:sp>
        <p:nvSpPr>
          <p:cNvPr id="9" name="finDot441"/>
          <p:cNvSpPr/>
          <p:nvPr/>
        </p:nvSpPr>
        <p:spPr>
          <a:xfrm>
            <a:off x="731520" y="3694176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xt442"/>
          <p:cNvSpPr txBox="1"/>
          <p:nvPr/>
        </p:nvSpPr>
        <p:spPr>
          <a:xfrm>
            <a:off x="731520" y="3694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</a:t>
            </a:r>
            <a:endParaRPr lang="en-US" sz="1500" dirty="0"/>
          </a:p>
        </p:txBody>
      </p:sp>
      <p:sp>
        <p:nvSpPr>
          <p:cNvPr id="11" name="txt443"/>
          <p:cNvSpPr txBox="1"/>
          <p:nvPr/>
        </p:nvSpPr>
        <p:spPr>
          <a:xfrm>
            <a:off x="1325880" y="36576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계약 직전 부정당업자 재조회, 연장 전 보증증권 먼저</a:t>
            </a:r>
            <a:endParaRPr lang="en-US" sz="1600" dirty="0"/>
          </a:p>
        </p:txBody>
      </p:sp>
      <p:sp>
        <p:nvSpPr>
          <p:cNvPr id="12" name="finDot444"/>
          <p:cNvSpPr/>
          <p:nvPr/>
        </p:nvSpPr>
        <p:spPr>
          <a:xfrm>
            <a:off x="731520" y="4151376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xt445"/>
          <p:cNvSpPr txBox="1"/>
          <p:nvPr/>
        </p:nvSpPr>
        <p:spPr>
          <a:xfrm>
            <a:off x="731520" y="4151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4</a:t>
            </a:r>
            <a:endParaRPr lang="en-US" sz="1500" dirty="0"/>
          </a:p>
        </p:txBody>
      </p:sp>
      <p:sp>
        <p:nvSpPr>
          <p:cNvPr id="14" name="txt446"/>
          <p:cNvSpPr txBox="1"/>
          <p:nvPr/>
        </p:nvSpPr>
        <p:spPr>
          <a:xfrm>
            <a:off x="1325880" y="41148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산학연공동 과제는 연구개발비 사용기준 — 연구수당 20%·70%, 회의비 식비 기준</a:t>
            </a:r>
            <a:endParaRPr lang="en-US" sz="1600" dirty="0"/>
          </a:p>
        </p:txBody>
      </p:sp>
      <p:sp>
        <p:nvSpPr>
          <p:cNvPr id="15" name="finDot447"/>
          <p:cNvSpPr/>
          <p:nvPr/>
        </p:nvSpPr>
        <p:spPr>
          <a:xfrm>
            <a:off x="731520" y="4608576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xt448"/>
          <p:cNvSpPr txBox="1"/>
          <p:nvPr/>
        </p:nvSpPr>
        <p:spPr>
          <a:xfrm>
            <a:off x="731520" y="4608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5</a:t>
            </a:r>
            <a:endParaRPr lang="en-US" sz="1500" dirty="0"/>
          </a:p>
        </p:txBody>
      </p:sp>
      <p:sp>
        <p:nvSpPr>
          <p:cNvPr id="17" name="txt449"/>
          <p:cNvSpPr txBox="1"/>
          <p:nvPr/>
        </p:nvSpPr>
        <p:spPr>
          <a:xfrm>
            <a:off x="1325880" y="45720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간접비는 앵커 지침 3% 우선, 산단 4차 배분율은 보충 적용</a:t>
            </a:r>
            <a:endParaRPr lang="en-US" sz="1600" dirty="0"/>
          </a:p>
        </p:txBody>
      </p:sp>
      <p:sp>
        <p:nvSpPr>
          <p:cNvPr id="18" name="finDot450"/>
          <p:cNvSpPr/>
          <p:nvPr/>
        </p:nvSpPr>
        <p:spPr>
          <a:xfrm>
            <a:off x="731520" y="5065776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xt451"/>
          <p:cNvSpPr txBox="1"/>
          <p:nvPr/>
        </p:nvSpPr>
        <p:spPr>
          <a:xfrm>
            <a:off x="731520" y="5065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6</a:t>
            </a:r>
            <a:endParaRPr lang="en-US" sz="1500" dirty="0"/>
          </a:p>
        </p:txBody>
      </p:sp>
      <p:sp>
        <p:nvSpPr>
          <p:cNvPr id="20" name="txt452"/>
          <p:cNvSpPr txBox="1"/>
          <p:nvPr/>
        </p:nvSpPr>
        <p:spPr>
          <a:xfrm>
            <a:off x="1325880" y="50292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앵커 증빙은 카드전표·전자세금계산서·이체 — 간이영수증 금지, 집행잔액·이자 반납</a:t>
            </a:r>
            <a:endParaRPr lang="en-US" sz="1600" dirty="0"/>
          </a:p>
        </p:txBody>
      </p:sp>
      <p:sp>
        <p:nvSpPr>
          <p:cNvPr id="21" name="finDot453"/>
          <p:cNvSpPr/>
          <p:nvPr/>
        </p:nvSpPr>
        <p:spPr>
          <a:xfrm>
            <a:off x="731520" y="5522976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txt454"/>
          <p:cNvSpPr txBox="1"/>
          <p:nvPr/>
        </p:nvSpPr>
        <p:spPr>
          <a:xfrm>
            <a:off x="731520" y="55229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7</a:t>
            </a:r>
            <a:endParaRPr lang="en-US" sz="1500" dirty="0"/>
          </a:p>
        </p:txBody>
      </p:sp>
      <p:sp>
        <p:nvSpPr>
          <p:cNvPr id="23" name="txt455"/>
          <p:cNvSpPr txBox="1"/>
          <p:nvPr/>
        </p:nvSpPr>
        <p:spPr>
          <a:xfrm>
            <a:off x="1325880" y="54864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직접구매는 물품 500만·용역 1,000만원 미만, 5일 내 같은 업체 2회는 한 건</a:t>
            </a:r>
            <a:endParaRPr lang="en-US" sz="1600" dirty="0"/>
          </a:p>
        </p:txBody>
      </p:sp>
      <p:sp>
        <p:nvSpPr>
          <p:cNvPr id="24" name="txt456"/>
          <p:cNvSpPr txBox="1"/>
          <p:nvPr/>
        </p:nvSpPr>
        <p:spPr>
          <a:xfrm>
            <a:off x="731520" y="60807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FDCCB"/>
                </a:solidFill>
              </a:rPr>
              <a:t>상세 사례·퀴즈: 규정 통합 대시보드 › 실무자·실무교원 교육자료  |  문의 coolzet@konkuk.ac.kr</a:t>
            </a:r>
            <a:endParaRPr lang="en-US" sz="1200" dirty="0"/>
          </a:p>
        </p:txBody>
      </p:sp>
      <p:sp>
        <p:nvSpPr>
          <p:cNvPr id="26" name="Text 0"/>
          <p:cNvSpPr/>
          <p:nvPr>
            <p:ph idx="101" type="body" hasCustomPrompt="1"/>
          </p:nvPr>
        </p:nvSpPr>
        <p:spPr>
          <a:xfrm>
            <a:off x="731520" y="38404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nkuk Anchor">
  <a:themeElements>
    <a:clrScheme name="Konkuk Anchor">
      <a:dk1>
        <a:srgbClr val="1C2A23"/>
      </a:dk1>
      <a:lt1>
        <a:srgbClr val="FFFFFF"/>
      </a:lt1>
      <a:dk2>
        <a:srgbClr val="0A3F29"/>
      </a:dk2>
      <a:lt2>
        <a:srgbClr val="E9F3EE"/>
      </a:lt2>
      <a:accent1>
        <a:srgbClr val="0F5B3B"/>
      </a:accent1>
      <a:accent2>
        <a:srgbClr val="4FAE83"/>
      </a:accent2>
      <a:accent3>
        <a:srgbClr val="B8912F"/>
      </a:accent3>
      <a:accent4>
        <a:srgbClr val="A63D2A"/>
      </a:accent4>
      <a:accent5>
        <a:srgbClr val="2F5F8A"/>
      </a:accent5>
      <a:accent6>
        <a:srgbClr val="5A6A62"/>
      </a:accent6>
      <a:hlink>
        <a:srgbClr val="2F5F8A"/>
      </a:hlink>
      <a:folHlink>
        <a:srgbClr val="5A3D73"/>
      </a:folHlink>
    </a:clrScheme>
    <a:fontScheme name="Konkuk Anchor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건국대학교 앵커사업단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앵커사업단 실무 교육 — 국가계약법·연구개발비 사용기준</dc:title>
  <dc:subject>PptxGenJS Presentation</dc:subject>
  <dc:creator>앵커김군 (건국대학교 앵커사업단)</dc:creator>
  <cp:lastModifiedBy>앵커김군 (건국대학교 앵커사업단)</cp:lastModifiedBy>
  <cp:revision>1</cp:revision>
  <dcterms:created xsi:type="dcterms:W3CDTF">2026-10-14T05:39:22Z</dcterms:created>
  <dcterms:modified xsi:type="dcterms:W3CDTF">2026-10-14T05:39:22Z</dcterms:modified>
</cp:coreProperties>
</file>